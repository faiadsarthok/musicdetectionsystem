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7" r:id="rId7"/>
    <p:sldId id="261" r:id="rId8"/>
    <p:sldId id="262" r:id="rId9"/>
    <p:sldId id="268" r:id="rId10"/>
    <p:sldId id="266" r:id="rId11"/>
    <p:sldId id="263" r:id="rId12"/>
    <p:sldId id="264" r:id="rId13"/>
    <p:sldId id="265"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1" autoAdjust="0"/>
    <p:restoredTop sz="94610"/>
  </p:normalViewPr>
  <p:slideViewPr>
    <p:cSldViewPr snapToGrid="0" snapToObjects="1">
      <p:cViewPr varScale="1">
        <p:scale>
          <a:sx n="106" d="100"/>
          <a:sy n="106" d="100"/>
        </p:scale>
        <p:origin x="236"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4413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
Assalamu Alaikum / Good morning. I'm [name], and I'll be presenting our Complex Engineering Project — a real-time audio recognition system, built entirely in MATLAB, that identifies a song from a short microphone recording.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The brief was simple to state, hard to build: given a 52-song playlist, identify any song from a short live mic recording, in real time. That meant four things — build a fingerprint database, match live audio reliably, wrap it in a working interface, and actually test it honestly, not just assume it works.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First task: acquiring the database. We wrote automated scripts using yt-dlp to pull audio directly from the reference playlist, then ffmpeg to convert everything to WAV — not MP3. This mattered: WAV is lossless and uncompressed. If we'd used MP3, the compression would strip out exactly the frequency detail our peak-extraction depends on — we'd be quietly damaging our own data before the algorithm even ran. 51 of the 52 songs made it through; one was blocked by a copyright claim on the source video.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Once we have the WAV files, they go through five stages. First, convert to mono and downsample to 8000 Hz — that alone cuts our computation by a factor of six, since the frequencies that matter for identifying music sit well below that range anyway. Then we apply a pre-emphasis filter — this exact equation, y[n] equals x[n] minus 0.95 times the previous sample — which boosts high frequencies so quieter instrumental detail doesn't get buried under bass. Then we generate a spectrogram, and finally extract the loudest peaks and turn them into a hash key — which is what the next slide is about.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So what is a hash, exactly? Every song's spectrogram gives us hundreds of loud peaks. We take each peak, pair it with a nearby one that comes shortly after it in time, and encode that pair — both frequencies plus the time gap between them — into a single number. Why pairs and not single peaks? Because two unrelated songs sharing one frequency by coincidence happens all the time. Two songs sharing an entire frequency pair AND the exact same timing gap is extremely unlikely. That's what makes each hash specific enough to be useful.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So what is a hash, exactly? Every song's spectrogram gives us hundreds of loud peaks. We take each peak, pair it with a nearby one that comes shortly after it in time, and encode that pair — both frequencies plus the time gap between them — into a single number. Why pairs and not single peaks? Because two unrelated songs sharing one frequency by coincidence happens all the time. Two songs sharing an entire frequency pair AND the exact same timing gap is extremely unlikely. That's what makes each hash specific enough to be useful.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7312445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sec — take your time here, this is the slide they'll remember]
This is the most important part of the whole system, so let me slow down. Every hash from what you just recorded gets looked up in our database. But a shared hash alone isn't proof — hash collisions happen by chance too. So for every single match, we calculate the time offset: how far apart is this peak in the live recording versus where it sits in the candidate song. Here's the key insight: if it's a genuine match, EVERY correct hash agrees on the same offset — because the live clip is just a time-shifted slice of the original recording. That creates this massive spike you see here. Coincidental, wrong matches don't share that agreement — they scatter randomly across every possible offset, staying low. So we just pick whichever offset has the tallest spike. And that spike's height is literally the confidence score displayed on our app. This is the same core idea real Shazam uses.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One small bonus feature: once a song is identified, we recommend three similar tracks. Nothing fancy — we compute two simple numbers per song when we build the database, brightness and percussiveness, and just pick whichever three songs are numerically closest to the one you found. No genre data needed.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One small bonus feature: once a song is identified, we recommend three similar tracks. Nothing fancy — we compute two simple numbers per song when we build the database, brightness and percussiveness, and just pick whichever three songs are numerically closest to the one you found. No genre data needed.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791496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One small bonus feature: once a song is identified, we recommend three similar tracks. Nothing fancy — we compute two simple numbers per song when we build the database, brightness and percussiveness, and just pick whichever three songs are numerically closest to the one you found. No genre data needed.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93666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 answer this confidently if asked, it shows you understand the trade-off]
A fair question: why doesn't this work if I hum the tune instead of playing the song? Our hashing method needs dense, layered peaks — a real recording is polyphonic, vocals and instruments stacked together, giving hundreds of strong peaks. Humming is monophonic, one note at a time, and no two people hum the same melody at exactly the same pitch or tempo twice — so the peaks wouldn't line up at all. The actual fix for humming is a completely different technique — Dynamic Time Warping over pitch contours — but that's far too computationally heavy to run in real time in MATLAB. So this wasn't something we missed — we deliberately chose accuracy and speed for the primary use case over supporting humming.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On results: an automated test using clean clips pulled directly from our own database — no mic involved — got 100%, 51 out of 51. That confirms the core algorithm is correct. Real-world microphone testing was reliably strong on anything with vocals. Instrumental-only sections were harder — but we actually investigated why, tested it with two completely different microphones, and traced it to how music is mixed, not a bug in our system.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
That's the system — a complete pipeline from a 52-song playlist to real-time identification, 100% accurate under controlled testing, and honest about exactly where and why it's weaker in the real world. Thank you — happy to take questions. If you're unsure of an answer, it's fine to pause and think rather than rush.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C"/>
        </a:solidFill>
        <a:effectLst/>
      </p:bgPr>
    </p:bg>
    <p:spTree>
      <p:nvGrpSpPr>
        <p:cNvPr id="1" name=""/>
        <p:cNvGrpSpPr/>
        <p:nvPr/>
      </p:nvGrpSpPr>
      <p:grpSpPr>
        <a:xfrm>
          <a:off x="0" y="0"/>
          <a:ext cx="0" cy="0"/>
          <a:chOff x="0" y="0"/>
          <a:chExt cx="0" cy="0"/>
        </a:xfrm>
      </p:grpSpPr>
      <p:sp>
        <p:nvSpPr>
          <p:cNvPr id="2" name="Shape 0"/>
          <p:cNvSpPr/>
          <p:nvPr/>
        </p:nvSpPr>
        <p:spPr>
          <a:xfrm>
            <a:off x="8595360" y="5852160"/>
            <a:ext cx="219456" cy="548640"/>
          </a:xfrm>
          <a:prstGeom prst="rect">
            <a:avLst/>
          </a:prstGeom>
          <a:solidFill>
            <a:srgbClr val="E8112D">
              <a:alpha val="45000"/>
            </a:srgbClr>
          </a:solidFill>
          <a:ln/>
        </p:spPr>
      </p:sp>
      <p:sp>
        <p:nvSpPr>
          <p:cNvPr id="3" name="Shape 1"/>
          <p:cNvSpPr/>
          <p:nvPr/>
        </p:nvSpPr>
        <p:spPr>
          <a:xfrm>
            <a:off x="8933688" y="5029200"/>
            <a:ext cx="219456" cy="1371600"/>
          </a:xfrm>
          <a:prstGeom prst="rect">
            <a:avLst/>
          </a:prstGeom>
          <a:solidFill>
            <a:srgbClr val="E8112D">
              <a:alpha val="45000"/>
            </a:srgbClr>
          </a:solidFill>
          <a:ln/>
        </p:spPr>
      </p:sp>
      <p:sp>
        <p:nvSpPr>
          <p:cNvPr id="4" name="Shape 2"/>
          <p:cNvSpPr/>
          <p:nvPr/>
        </p:nvSpPr>
        <p:spPr>
          <a:xfrm>
            <a:off x="9272016" y="4206240"/>
            <a:ext cx="219456" cy="2194560"/>
          </a:xfrm>
          <a:prstGeom prst="rect">
            <a:avLst/>
          </a:prstGeom>
          <a:solidFill>
            <a:srgbClr val="E8112D">
              <a:alpha val="45000"/>
            </a:srgbClr>
          </a:solidFill>
          <a:ln/>
        </p:spPr>
      </p:sp>
      <p:sp>
        <p:nvSpPr>
          <p:cNvPr id="5" name="Shape 3"/>
          <p:cNvSpPr/>
          <p:nvPr/>
        </p:nvSpPr>
        <p:spPr>
          <a:xfrm>
            <a:off x="9610344" y="5394960"/>
            <a:ext cx="219456" cy="1005840"/>
          </a:xfrm>
          <a:prstGeom prst="rect">
            <a:avLst/>
          </a:prstGeom>
          <a:solidFill>
            <a:srgbClr val="E8112D">
              <a:alpha val="45000"/>
            </a:srgbClr>
          </a:solidFill>
          <a:ln/>
        </p:spPr>
      </p:sp>
      <p:sp>
        <p:nvSpPr>
          <p:cNvPr id="6" name="Shape 4"/>
          <p:cNvSpPr/>
          <p:nvPr/>
        </p:nvSpPr>
        <p:spPr>
          <a:xfrm>
            <a:off x="9948672" y="4572000"/>
            <a:ext cx="219456" cy="1828800"/>
          </a:xfrm>
          <a:prstGeom prst="rect">
            <a:avLst/>
          </a:prstGeom>
          <a:solidFill>
            <a:srgbClr val="E8112D">
              <a:alpha val="45000"/>
            </a:srgbClr>
          </a:solidFill>
          <a:ln/>
        </p:spPr>
      </p:sp>
      <p:sp>
        <p:nvSpPr>
          <p:cNvPr id="7" name="Shape 5"/>
          <p:cNvSpPr/>
          <p:nvPr/>
        </p:nvSpPr>
        <p:spPr>
          <a:xfrm>
            <a:off x="10287000" y="5669280"/>
            <a:ext cx="219456" cy="731520"/>
          </a:xfrm>
          <a:prstGeom prst="rect">
            <a:avLst/>
          </a:prstGeom>
          <a:solidFill>
            <a:srgbClr val="E8112D">
              <a:alpha val="45000"/>
            </a:srgbClr>
          </a:solidFill>
          <a:ln/>
        </p:spPr>
      </p:sp>
      <p:sp>
        <p:nvSpPr>
          <p:cNvPr id="8" name="Shape 6"/>
          <p:cNvSpPr/>
          <p:nvPr/>
        </p:nvSpPr>
        <p:spPr>
          <a:xfrm>
            <a:off x="10625328" y="4846320"/>
            <a:ext cx="219456" cy="1554480"/>
          </a:xfrm>
          <a:prstGeom prst="rect">
            <a:avLst/>
          </a:prstGeom>
          <a:solidFill>
            <a:srgbClr val="E8112D">
              <a:alpha val="45000"/>
            </a:srgbClr>
          </a:solidFill>
          <a:ln/>
        </p:spPr>
      </p:sp>
      <p:sp>
        <p:nvSpPr>
          <p:cNvPr id="9" name="Shape 7"/>
          <p:cNvSpPr/>
          <p:nvPr/>
        </p:nvSpPr>
        <p:spPr>
          <a:xfrm>
            <a:off x="10963656" y="5303520"/>
            <a:ext cx="219456" cy="1097280"/>
          </a:xfrm>
          <a:prstGeom prst="rect">
            <a:avLst/>
          </a:prstGeom>
          <a:solidFill>
            <a:srgbClr val="E8112D">
              <a:alpha val="45000"/>
            </a:srgbClr>
          </a:solidFill>
          <a:ln/>
        </p:spPr>
      </p:sp>
      <p:sp>
        <p:nvSpPr>
          <p:cNvPr id="10" name="Shape 8"/>
          <p:cNvSpPr/>
          <p:nvPr/>
        </p:nvSpPr>
        <p:spPr>
          <a:xfrm>
            <a:off x="11301984" y="4480560"/>
            <a:ext cx="219456" cy="1920240"/>
          </a:xfrm>
          <a:prstGeom prst="rect">
            <a:avLst/>
          </a:prstGeom>
          <a:solidFill>
            <a:srgbClr val="E8112D">
              <a:alpha val="45000"/>
            </a:srgbClr>
          </a:solidFill>
          <a:ln/>
        </p:spPr>
      </p:sp>
      <p:sp>
        <p:nvSpPr>
          <p:cNvPr id="11" name="Shape 9"/>
          <p:cNvSpPr/>
          <p:nvPr/>
        </p:nvSpPr>
        <p:spPr>
          <a:xfrm>
            <a:off x="731520" y="2331720"/>
            <a:ext cx="128016" cy="1737360"/>
          </a:xfrm>
          <a:prstGeom prst="rect">
            <a:avLst/>
          </a:prstGeom>
          <a:solidFill>
            <a:srgbClr val="E8112D"/>
          </a:solidFill>
          <a:ln/>
        </p:spPr>
      </p:sp>
      <p:sp>
        <p:nvSpPr>
          <p:cNvPr id="12" name="Text 10"/>
          <p:cNvSpPr/>
          <p:nvPr/>
        </p:nvSpPr>
        <p:spPr>
          <a:xfrm>
            <a:off x="1005840" y="1417320"/>
            <a:ext cx="9144000" cy="365760"/>
          </a:xfrm>
          <a:prstGeom prst="rect">
            <a:avLst/>
          </a:prstGeom>
          <a:noFill/>
          <a:ln/>
        </p:spPr>
        <p:txBody>
          <a:bodyPr wrap="square" rtlCol="0" anchor="ctr"/>
          <a:lstStyle/>
          <a:p>
            <a:pPr marL="0" indent="0">
              <a:buNone/>
            </a:pPr>
            <a:r>
              <a:rPr lang="en-US" sz="1400" b="1" kern="0" spc="200" dirty="0">
                <a:solidFill>
                  <a:srgbClr val="E8112D"/>
                </a:solidFill>
                <a:latin typeface="Calibri" pitchFamily="34" charset="0"/>
                <a:ea typeface="Calibri" pitchFamily="34" charset="-122"/>
                <a:cs typeface="Calibri" pitchFamily="34" charset="-120"/>
              </a:rPr>
              <a:t>AUDIO PATTERN RECOGNITION</a:t>
            </a:r>
            <a:endParaRPr lang="en-US" sz="1400" dirty="0"/>
          </a:p>
        </p:txBody>
      </p:sp>
      <p:sp>
        <p:nvSpPr>
          <p:cNvPr id="13" name="Text 11"/>
          <p:cNvSpPr/>
          <p:nvPr/>
        </p:nvSpPr>
        <p:spPr>
          <a:xfrm>
            <a:off x="1005840" y="1828800"/>
            <a:ext cx="9601200" cy="1737360"/>
          </a:xfrm>
          <a:prstGeom prst="rect">
            <a:avLst/>
          </a:prstGeom>
          <a:noFill/>
          <a:ln/>
        </p:spPr>
        <p:txBody>
          <a:bodyPr wrap="square" rtlCol="0" anchor="ctr"/>
          <a:lstStyle/>
          <a:p>
            <a:pPr marL="0" indent="0">
              <a:lnSpc>
                <a:spcPct val="102000"/>
              </a:lnSpc>
              <a:buNone/>
            </a:pPr>
            <a:r>
              <a:rPr lang="en-US" sz="4400" b="1" dirty="0">
                <a:solidFill>
                  <a:srgbClr val="FFFFFF"/>
                </a:solidFill>
                <a:latin typeface="Arial" pitchFamily="34" charset="0"/>
                <a:ea typeface="Arial" pitchFamily="34" charset="-122"/>
                <a:cs typeface="Arial" pitchFamily="34" charset="-120"/>
              </a:rPr>
              <a:t>A Real-Time Music</a:t>
            </a:r>
            <a:endParaRPr lang="en-US" sz="4400" dirty="0"/>
          </a:p>
          <a:p>
            <a:pPr marL="0" indent="0">
              <a:lnSpc>
                <a:spcPct val="102000"/>
              </a:lnSpc>
              <a:buNone/>
            </a:pPr>
            <a:r>
              <a:rPr lang="en-US" sz="4400" b="1" dirty="0">
                <a:solidFill>
                  <a:srgbClr val="FFFFFF"/>
                </a:solidFill>
                <a:latin typeface="Arial" pitchFamily="34" charset="0"/>
                <a:ea typeface="Arial" pitchFamily="34" charset="-122"/>
                <a:cs typeface="Arial" pitchFamily="34" charset="-120"/>
              </a:rPr>
              <a:t>Identification System</a:t>
            </a:r>
            <a:endParaRPr lang="en-US" sz="4400" dirty="0"/>
          </a:p>
        </p:txBody>
      </p:sp>
      <p:sp>
        <p:nvSpPr>
          <p:cNvPr id="14" name="Text 12"/>
          <p:cNvSpPr/>
          <p:nvPr/>
        </p:nvSpPr>
        <p:spPr>
          <a:xfrm>
            <a:off x="1005840" y="3611880"/>
            <a:ext cx="8229600" cy="411480"/>
          </a:xfrm>
          <a:prstGeom prst="rect">
            <a:avLst/>
          </a:prstGeom>
          <a:noFill/>
          <a:ln/>
        </p:spPr>
        <p:txBody>
          <a:bodyPr wrap="square" rtlCol="0" anchor="ctr"/>
          <a:lstStyle/>
          <a:p>
            <a:pPr marL="0" indent="0">
              <a:buNone/>
            </a:pPr>
            <a:r>
              <a:rPr lang="en-US" sz="1500" dirty="0">
                <a:solidFill>
                  <a:srgbClr val="9AA0A8"/>
                </a:solidFill>
                <a:latin typeface="Calibri" pitchFamily="34" charset="0"/>
                <a:ea typeface="Calibri" pitchFamily="34" charset="-122"/>
                <a:cs typeface="Calibri" pitchFamily="34" charset="-120"/>
              </a:rPr>
              <a:t>Complex Engineering Project — Signals and Systems</a:t>
            </a:r>
            <a:endParaRPr lang="en-US" sz="1500" dirty="0"/>
          </a:p>
        </p:txBody>
      </p:sp>
      <p:sp>
        <p:nvSpPr>
          <p:cNvPr id="15" name="Text 13"/>
          <p:cNvSpPr/>
          <p:nvPr/>
        </p:nvSpPr>
        <p:spPr>
          <a:xfrm>
            <a:off x="1005840" y="5623560"/>
            <a:ext cx="7315200" cy="274320"/>
          </a:xfrm>
          <a:prstGeom prst="rect">
            <a:avLst/>
          </a:prstGeom>
          <a:noFill/>
          <a:ln/>
        </p:spPr>
        <p:txBody>
          <a:bodyPr wrap="square" rtlCol="0" anchor="ctr"/>
          <a:lstStyle/>
          <a:p>
            <a:pPr marL="0" indent="0">
              <a:buNone/>
            </a:pPr>
            <a:r>
              <a:rPr lang="en-US" sz="1100" b="1" kern="0" spc="150" dirty="0">
                <a:solidFill>
                  <a:srgbClr val="5C6169"/>
                </a:solidFill>
                <a:latin typeface="Calibri" pitchFamily="34" charset="0"/>
                <a:ea typeface="Calibri" pitchFamily="34" charset="-122"/>
                <a:cs typeface="Calibri" pitchFamily="34" charset="-120"/>
              </a:rPr>
              <a:t>ISLAMIC UNIVERSITY OF TECHNOLOGY (IUT)</a:t>
            </a:r>
            <a:endParaRPr lang="en-US" sz="1100" dirty="0"/>
          </a:p>
        </p:txBody>
      </p:sp>
      <p:sp>
        <p:nvSpPr>
          <p:cNvPr id="16" name="Text 14"/>
          <p:cNvSpPr/>
          <p:nvPr/>
        </p:nvSpPr>
        <p:spPr>
          <a:xfrm>
            <a:off x="1005840" y="5943600"/>
            <a:ext cx="8686800" cy="822960"/>
          </a:xfrm>
          <a:prstGeom prst="rect">
            <a:avLst/>
          </a:prstGeom>
          <a:noFill/>
          <a:ln/>
        </p:spPr>
        <p:txBody>
          <a:bodyPr wrap="square" rtlCol="0" anchor="t"/>
          <a:lstStyle/>
          <a:p>
            <a:pPr marL="0" indent="0">
              <a:buNone/>
            </a:pPr>
            <a:r>
              <a:rPr lang="en-US" sz="1100" b="1" dirty="0">
                <a:solidFill>
                  <a:srgbClr val="9AA0A8"/>
                </a:solidFill>
                <a:latin typeface="Calibri" pitchFamily="34" charset="0"/>
                <a:ea typeface="Calibri" pitchFamily="34" charset="-122"/>
                <a:cs typeface="Calibri" pitchFamily="34" charset="-120"/>
              </a:rPr>
              <a:t>Presented by:</a:t>
            </a:r>
          </a:p>
          <a:p>
            <a:pPr marL="0" indent="0">
              <a:lnSpc>
                <a:spcPct val="130000"/>
              </a:lnSpc>
              <a:buNone/>
            </a:pPr>
            <a:r>
              <a:rPr lang="en-US" sz="1000" dirty="0">
                <a:solidFill>
                  <a:srgbClr val="9AA0A8"/>
                </a:solidFill>
                <a:latin typeface="Calibri" pitchFamily="34" charset="0"/>
                <a:ea typeface="Calibri" pitchFamily="34" charset="-122"/>
                <a:cs typeface="Calibri" pitchFamily="34" charset="-120"/>
              </a:rPr>
              <a:t>M Faiad Faisal Sarthok (220021116)  •  Abdullah Al Jubayer (220021151)</a:t>
            </a:r>
          </a:p>
          <a:p>
            <a:pPr marL="0" indent="0">
              <a:lnSpc>
                <a:spcPct val="130000"/>
              </a:lnSpc>
              <a:buNone/>
            </a:pPr>
            <a:r>
              <a:rPr lang="en-US" sz="1000" dirty="0">
                <a:solidFill>
                  <a:srgbClr val="9AA0A8"/>
                </a:solidFill>
                <a:latin typeface="Calibri" pitchFamily="34" charset="0"/>
                <a:ea typeface="Calibri" pitchFamily="34" charset="-122"/>
                <a:cs typeface="Calibri" pitchFamily="34" charset="-120"/>
              </a:rPr>
              <a:t>Md. Fardin Jahan (220021235)  •  Modou Barrow (220021165)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C"/>
        </a:solidFill>
        <a:effectLst/>
      </p:bgPr>
    </p:bg>
    <p:spTree>
      <p:nvGrpSpPr>
        <p:cNvPr id="1" name=""/>
        <p:cNvGrpSpPr/>
        <p:nvPr/>
      </p:nvGrpSpPr>
      <p:grpSpPr>
        <a:xfrm>
          <a:off x="0" y="0"/>
          <a:ext cx="0" cy="0"/>
          <a:chOff x="0" y="0"/>
          <a:chExt cx="0" cy="0"/>
        </a:xfrm>
      </p:grpSpPr>
      <p:sp>
        <p:nvSpPr>
          <p:cNvPr id="2" name="Shape 0"/>
          <p:cNvSpPr/>
          <p:nvPr/>
        </p:nvSpPr>
        <p:spPr>
          <a:xfrm>
            <a:off x="502920" y="502920"/>
            <a:ext cx="82296" cy="457200"/>
          </a:xfrm>
          <a:prstGeom prst="rect">
            <a:avLst/>
          </a:prstGeom>
          <a:solidFill>
            <a:srgbClr val="E8112D"/>
          </a:solidFill>
          <a:ln/>
        </p:spPr>
      </p:sp>
      <p:sp>
        <p:nvSpPr>
          <p:cNvPr id="3" name="Text 1"/>
          <p:cNvSpPr/>
          <p:nvPr/>
        </p:nvSpPr>
        <p:spPr>
          <a:xfrm>
            <a:off x="713232" y="384048"/>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Our Goal</a:t>
            </a:r>
            <a:endParaRPr lang="en-US" sz="2600" dirty="0"/>
          </a:p>
        </p:txBody>
      </p:sp>
      <p:sp>
        <p:nvSpPr>
          <p:cNvPr id="4" name="Shape 2"/>
          <p:cNvSpPr/>
          <p:nvPr/>
        </p:nvSpPr>
        <p:spPr>
          <a:xfrm>
            <a:off x="502920" y="1463040"/>
            <a:ext cx="11155680" cy="1371600"/>
          </a:xfrm>
          <a:prstGeom prst="rect">
            <a:avLst/>
          </a:prstGeom>
          <a:solidFill>
            <a:srgbClr val="170B0D"/>
          </a:solidFill>
          <a:ln w="12700">
            <a:solidFill>
              <a:srgbClr val="6E0E1B"/>
            </a:solidFill>
            <a:prstDash val="solid"/>
          </a:ln>
        </p:spPr>
      </p:sp>
      <p:sp>
        <p:nvSpPr>
          <p:cNvPr id="5" name="Text 3"/>
          <p:cNvSpPr/>
          <p:nvPr/>
        </p:nvSpPr>
        <p:spPr>
          <a:xfrm>
            <a:off x="868680" y="1463040"/>
            <a:ext cx="10424160" cy="1371600"/>
          </a:xfrm>
          <a:prstGeom prst="rect">
            <a:avLst/>
          </a:prstGeom>
          <a:noFill/>
          <a:ln/>
        </p:spPr>
        <p:txBody>
          <a:bodyPr wrap="square" rtlCol="0" anchor="ctr"/>
          <a:lstStyle/>
          <a:p>
            <a:pPr marL="0" indent="0">
              <a:lnSpc>
                <a:spcPct val="115000"/>
              </a:lnSpc>
              <a:buNone/>
            </a:pPr>
            <a:r>
              <a:rPr lang="en-US" sz="1900" i="1" dirty="0">
                <a:solidFill>
                  <a:srgbClr val="FFFFFF"/>
                </a:solidFill>
                <a:latin typeface="Calibri" pitchFamily="34" charset="0"/>
                <a:ea typeface="Calibri" pitchFamily="34" charset="-122"/>
                <a:cs typeface="Calibri" pitchFamily="34" charset="-120"/>
              </a:rPr>
              <a:t>Given a 52-song reference playlist, identify any song from a short, live microphone recording — in real time, despite background noise.</a:t>
            </a:r>
            <a:endParaRPr lang="en-US" sz="1900" dirty="0"/>
          </a:p>
        </p:txBody>
      </p:sp>
      <p:sp>
        <p:nvSpPr>
          <p:cNvPr id="6" name="Text 4"/>
          <p:cNvSpPr/>
          <p:nvPr/>
        </p:nvSpPr>
        <p:spPr>
          <a:xfrm>
            <a:off x="640080" y="3218688"/>
            <a:ext cx="822960" cy="685800"/>
          </a:xfrm>
          <a:prstGeom prst="rect">
            <a:avLst/>
          </a:prstGeom>
          <a:noFill/>
          <a:ln/>
        </p:spPr>
        <p:txBody>
          <a:bodyPr wrap="square" rtlCol="0" anchor="ctr"/>
          <a:lstStyle/>
          <a:p>
            <a:pPr marL="0" indent="0">
              <a:buNone/>
            </a:pPr>
            <a:r>
              <a:rPr lang="en-US" sz="3400" b="1" dirty="0">
                <a:solidFill>
                  <a:srgbClr val="E8112D"/>
                </a:solidFill>
                <a:latin typeface="Arial" pitchFamily="34" charset="0"/>
                <a:ea typeface="Arial" pitchFamily="34" charset="-122"/>
                <a:cs typeface="Arial" pitchFamily="34" charset="-120"/>
              </a:rPr>
              <a:t>01</a:t>
            </a:r>
            <a:endParaRPr lang="en-US" sz="3400" dirty="0"/>
          </a:p>
        </p:txBody>
      </p:sp>
      <p:sp>
        <p:nvSpPr>
          <p:cNvPr id="7" name="Text 5"/>
          <p:cNvSpPr/>
          <p:nvPr/>
        </p:nvSpPr>
        <p:spPr>
          <a:xfrm>
            <a:off x="1417320" y="3291840"/>
            <a:ext cx="443484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Build a fingerprint database</a:t>
            </a:r>
            <a:endParaRPr lang="en-US" sz="1500" dirty="0"/>
          </a:p>
        </p:txBody>
      </p:sp>
      <p:sp>
        <p:nvSpPr>
          <p:cNvPr id="8" name="Text 6"/>
          <p:cNvSpPr/>
          <p:nvPr/>
        </p:nvSpPr>
        <p:spPr>
          <a:xfrm>
            <a:off x="1417320" y="3602736"/>
            <a:ext cx="4434840" cy="640080"/>
          </a:xfrm>
          <a:prstGeom prst="rect">
            <a:avLst/>
          </a:prstGeom>
          <a:noFill/>
          <a:ln/>
        </p:spPr>
        <p:txBody>
          <a:bodyPr wrap="square" rtlCol="0" anchor="ctr"/>
          <a:lstStyle/>
          <a:p>
            <a:pPr marL="0" indent="0">
              <a:lnSpc>
                <a:spcPct val="108000"/>
              </a:lnSpc>
              <a:buNone/>
            </a:pPr>
            <a:r>
              <a:rPr lang="en-US" sz="1200" dirty="0">
                <a:solidFill>
                  <a:srgbClr val="9AA0A8"/>
                </a:solidFill>
                <a:latin typeface="Calibri" pitchFamily="34" charset="0"/>
                <a:ea typeface="Calibri" pitchFamily="34" charset="-122"/>
                <a:cs typeface="Calibri" pitchFamily="34" charset="-120"/>
              </a:rPr>
              <a:t>From 52 reference songs — 51 successfully processed.</a:t>
            </a:r>
            <a:endParaRPr lang="en-US" sz="1200" dirty="0"/>
          </a:p>
        </p:txBody>
      </p:sp>
      <p:sp>
        <p:nvSpPr>
          <p:cNvPr id="9" name="Text 7"/>
          <p:cNvSpPr/>
          <p:nvPr/>
        </p:nvSpPr>
        <p:spPr>
          <a:xfrm>
            <a:off x="6126480" y="3218688"/>
            <a:ext cx="822960" cy="685800"/>
          </a:xfrm>
          <a:prstGeom prst="rect">
            <a:avLst/>
          </a:prstGeom>
          <a:noFill/>
          <a:ln/>
        </p:spPr>
        <p:txBody>
          <a:bodyPr wrap="square" rtlCol="0" anchor="ctr"/>
          <a:lstStyle/>
          <a:p>
            <a:pPr marL="0" indent="0">
              <a:buNone/>
            </a:pPr>
            <a:r>
              <a:rPr lang="en-US" sz="3400" b="1" dirty="0">
                <a:solidFill>
                  <a:srgbClr val="E8112D"/>
                </a:solidFill>
                <a:latin typeface="Arial" pitchFamily="34" charset="0"/>
                <a:ea typeface="Arial" pitchFamily="34" charset="-122"/>
                <a:cs typeface="Arial" pitchFamily="34" charset="-120"/>
              </a:rPr>
              <a:t>02</a:t>
            </a:r>
            <a:endParaRPr lang="en-US" sz="3400" dirty="0"/>
          </a:p>
        </p:txBody>
      </p:sp>
      <p:sp>
        <p:nvSpPr>
          <p:cNvPr id="10" name="Text 8"/>
          <p:cNvSpPr/>
          <p:nvPr/>
        </p:nvSpPr>
        <p:spPr>
          <a:xfrm>
            <a:off x="6903720" y="3291840"/>
            <a:ext cx="443484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Match live audio in real time</a:t>
            </a:r>
            <a:endParaRPr lang="en-US" sz="1500" dirty="0"/>
          </a:p>
        </p:txBody>
      </p:sp>
      <p:sp>
        <p:nvSpPr>
          <p:cNvPr id="11" name="Text 9"/>
          <p:cNvSpPr/>
          <p:nvPr/>
        </p:nvSpPr>
        <p:spPr>
          <a:xfrm>
            <a:off x="6903720" y="3602736"/>
            <a:ext cx="4434840" cy="640080"/>
          </a:xfrm>
          <a:prstGeom prst="rect">
            <a:avLst/>
          </a:prstGeom>
          <a:noFill/>
          <a:ln/>
        </p:spPr>
        <p:txBody>
          <a:bodyPr wrap="square" rtlCol="0" anchor="ctr"/>
          <a:lstStyle/>
          <a:p>
            <a:pPr marL="0" indent="0">
              <a:lnSpc>
                <a:spcPct val="108000"/>
              </a:lnSpc>
              <a:buNone/>
            </a:pPr>
            <a:r>
              <a:rPr lang="en-US" sz="1200" dirty="0">
                <a:solidFill>
                  <a:srgbClr val="9AA0A8"/>
                </a:solidFill>
                <a:latin typeface="Calibri" pitchFamily="34" charset="0"/>
                <a:ea typeface="Calibri" pitchFamily="34" charset="-122"/>
                <a:cs typeface="Calibri" pitchFamily="34" charset="-120"/>
              </a:rPr>
              <a:t>Robust to noise, room acoustics, and mic quality.</a:t>
            </a:r>
            <a:endParaRPr lang="en-US" sz="1200" dirty="0"/>
          </a:p>
        </p:txBody>
      </p:sp>
      <p:sp>
        <p:nvSpPr>
          <p:cNvPr id="12" name="Text 10"/>
          <p:cNvSpPr/>
          <p:nvPr/>
        </p:nvSpPr>
        <p:spPr>
          <a:xfrm>
            <a:off x="640080" y="4407408"/>
            <a:ext cx="822960" cy="685800"/>
          </a:xfrm>
          <a:prstGeom prst="rect">
            <a:avLst/>
          </a:prstGeom>
          <a:noFill/>
          <a:ln/>
        </p:spPr>
        <p:txBody>
          <a:bodyPr wrap="square" rtlCol="0" anchor="ctr"/>
          <a:lstStyle/>
          <a:p>
            <a:pPr marL="0" indent="0">
              <a:buNone/>
            </a:pPr>
            <a:r>
              <a:rPr lang="en-US" sz="3400" b="1" dirty="0">
                <a:solidFill>
                  <a:srgbClr val="E8112D"/>
                </a:solidFill>
                <a:latin typeface="Arial" pitchFamily="34" charset="0"/>
                <a:ea typeface="Arial" pitchFamily="34" charset="-122"/>
                <a:cs typeface="Arial" pitchFamily="34" charset="-120"/>
              </a:rPr>
              <a:t>03</a:t>
            </a:r>
            <a:endParaRPr lang="en-US" sz="3400" dirty="0"/>
          </a:p>
        </p:txBody>
      </p:sp>
      <p:sp>
        <p:nvSpPr>
          <p:cNvPr id="13" name="Text 11"/>
          <p:cNvSpPr/>
          <p:nvPr/>
        </p:nvSpPr>
        <p:spPr>
          <a:xfrm>
            <a:off x="1417320" y="4480560"/>
            <a:ext cx="443484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Deliver a working GUI</a:t>
            </a:r>
            <a:endParaRPr lang="en-US" sz="1500" dirty="0"/>
          </a:p>
        </p:txBody>
      </p:sp>
      <p:sp>
        <p:nvSpPr>
          <p:cNvPr id="14" name="Text 12"/>
          <p:cNvSpPr/>
          <p:nvPr/>
        </p:nvSpPr>
        <p:spPr>
          <a:xfrm>
            <a:off x="1417320" y="4791456"/>
            <a:ext cx="4434840" cy="640080"/>
          </a:xfrm>
          <a:prstGeom prst="rect">
            <a:avLst/>
          </a:prstGeom>
          <a:noFill/>
          <a:ln/>
        </p:spPr>
        <p:txBody>
          <a:bodyPr wrap="square" rtlCol="0" anchor="ctr"/>
          <a:lstStyle/>
          <a:p>
            <a:pPr marL="0" indent="0">
              <a:lnSpc>
                <a:spcPct val="108000"/>
              </a:lnSpc>
              <a:buNone/>
            </a:pPr>
            <a:r>
              <a:rPr lang="en-US" sz="1200" dirty="0">
                <a:solidFill>
                  <a:srgbClr val="9AA0A8"/>
                </a:solidFill>
                <a:latin typeface="Calibri" pitchFamily="34" charset="0"/>
                <a:ea typeface="Calibri" pitchFamily="34" charset="-122"/>
                <a:cs typeface="Calibri" pitchFamily="34" charset="-120"/>
              </a:rPr>
              <a:t>Recording, matching, playback — end to end.</a:t>
            </a:r>
            <a:endParaRPr lang="en-US" sz="1200" dirty="0"/>
          </a:p>
        </p:txBody>
      </p:sp>
      <p:sp>
        <p:nvSpPr>
          <p:cNvPr id="15" name="Text 13"/>
          <p:cNvSpPr/>
          <p:nvPr/>
        </p:nvSpPr>
        <p:spPr>
          <a:xfrm>
            <a:off x="6126480" y="4407408"/>
            <a:ext cx="822960" cy="685800"/>
          </a:xfrm>
          <a:prstGeom prst="rect">
            <a:avLst/>
          </a:prstGeom>
          <a:noFill/>
          <a:ln/>
        </p:spPr>
        <p:txBody>
          <a:bodyPr wrap="square" rtlCol="0" anchor="ctr"/>
          <a:lstStyle/>
          <a:p>
            <a:pPr marL="0" indent="0">
              <a:buNone/>
            </a:pPr>
            <a:r>
              <a:rPr lang="en-US" sz="3400" b="1" dirty="0">
                <a:solidFill>
                  <a:srgbClr val="E8112D"/>
                </a:solidFill>
                <a:latin typeface="Arial" pitchFamily="34" charset="0"/>
                <a:ea typeface="Arial" pitchFamily="34" charset="-122"/>
                <a:cs typeface="Arial" pitchFamily="34" charset="-120"/>
              </a:rPr>
              <a:t>04</a:t>
            </a:r>
            <a:endParaRPr lang="en-US" sz="3400" dirty="0"/>
          </a:p>
        </p:txBody>
      </p:sp>
      <p:sp>
        <p:nvSpPr>
          <p:cNvPr id="16" name="Text 14"/>
          <p:cNvSpPr/>
          <p:nvPr/>
        </p:nvSpPr>
        <p:spPr>
          <a:xfrm>
            <a:off x="6903720" y="4480560"/>
            <a:ext cx="443484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Evaluate honestly</a:t>
            </a:r>
            <a:endParaRPr lang="en-US" sz="1500" dirty="0"/>
          </a:p>
        </p:txBody>
      </p:sp>
      <p:sp>
        <p:nvSpPr>
          <p:cNvPr id="17" name="Text 15"/>
          <p:cNvSpPr/>
          <p:nvPr/>
        </p:nvSpPr>
        <p:spPr>
          <a:xfrm>
            <a:off x="6903720" y="4791456"/>
            <a:ext cx="4434840" cy="640080"/>
          </a:xfrm>
          <a:prstGeom prst="rect">
            <a:avLst/>
          </a:prstGeom>
          <a:noFill/>
          <a:ln/>
        </p:spPr>
        <p:txBody>
          <a:bodyPr wrap="square" rtlCol="0" anchor="ctr"/>
          <a:lstStyle/>
          <a:p>
            <a:pPr marL="0" indent="0">
              <a:lnSpc>
                <a:spcPct val="108000"/>
              </a:lnSpc>
              <a:buNone/>
            </a:pPr>
            <a:r>
              <a:rPr lang="en-US" sz="1200" dirty="0">
                <a:solidFill>
                  <a:srgbClr val="9AA0A8"/>
                </a:solidFill>
                <a:latin typeface="Calibri" pitchFamily="34" charset="0"/>
                <a:ea typeface="Calibri" pitchFamily="34" charset="-122"/>
                <a:cs typeface="Calibri" pitchFamily="34" charset="-120"/>
              </a:rPr>
              <a:t>Controlled tests and real-world microphone tests.</a:t>
            </a:r>
            <a:endParaRPr lang="en-US" sz="1200" dirty="0"/>
          </a:p>
        </p:txBody>
      </p:sp>
      <p:sp>
        <p:nvSpPr>
          <p:cNvPr id="18" name="Text 16"/>
          <p:cNvSpPr/>
          <p:nvPr/>
        </p:nvSpPr>
        <p:spPr>
          <a:xfrm>
            <a:off x="502920" y="6510528"/>
            <a:ext cx="5486400" cy="274320"/>
          </a:xfrm>
          <a:prstGeom prst="rect">
            <a:avLst/>
          </a:prstGeom>
          <a:noFill/>
          <a:ln/>
        </p:spPr>
        <p:txBody>
          <a:bodyPr wrap="square" rtlCol="0" anchor="ctr"/>
          <a:lstStyle/>
          <a:p>
            <a:pPr marL="0" indent="0">
              <a:buNone/>
            </a:pPr>
            <a:r>
              <a:rPr lang="en-US" sz="900" dirty="0">
                <a:solidFill>
                  <a:srgbClr val="5C6169"/>
                </a:solidFill>
                <a:latin typeface="Calibri" pitchFamily="34" charset="0"/>
                <a:ea typeface="Calibri" pitchFamily="34" charset="-122"/>
                <a:cs typeface="Calibri" pitchFamily="34" charset="-120"/>
              </a:rPr>
              <a:t>Audio Pattern Recognition System</a:t>
            </a:r>
            <a:endParaRPr lang="en-US" sz="900" dirty="0"/>
          </a:p>
        </p:txBody>
      </p:sp>
      <p:sp>
        <p:nvSpPr>
          <p:cNvPr id="19" name="Text 17"/>
          <p:cNvSpPr/>
          <p:nvPr/>
        </p:nvSpPr>
        <p:spPr>
          <a:xfrm>
            <a:off x="11338560" y="6510528"/>
            <a:ext cx="365760" cy="274320"/>
          </a:xfrm>
          <a:prstGeom prst="rect">
            <a:avLst/>
          </a:prstGeom>
          <a:noFill/>
          <a:ln/>
        </p:spPr>
        <p:txBody>
          <a:bodyPr wrap="square" rtlCol="0" anchor="ctr"/>
          <a:lstStyle/>
          <a:p>
            <a:pPr marL="0" indent="0" algn="r">
              <a:buNone/>
            </a:pPr>
            <a:r>
              <a:rPr lang="en-US" sz="900" dirty="0">
                <a:solidFill>
                  <a:srgbClr val="5C616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C"/>
        </a:solidFill>
        <a:effectLst/>
      </p:bgPr>
    </p:bg>
    <p:spTree>
      <p:nvGrpSpPr>
        <p:cNvPr id="1" name=""/>
        <p:cNvGrpSpPr/>
        <p:nvPr/>
      </p:nvGrpSpPr>
      <p:grpSpPr>
        <a:xfrm>
          <a:off x="0" y="0"/>
          <a:ext cx="0" cy="0"/>
          <a:chOff x="0" y="0"/>
          <a:chExt cx="0" cy="0"/>
        </a:xfrm>
      </p:grpSpPr>
      <p:sp>
        <p:nvSpPr>
          <p:cNvPr id="2" name="Shape 0"/>
          <p:cNvSpPr/>
          <p:nvPr/>
        </p:nvSpPr>
        <p:spPr>
          <a:xfrm>
            <a:off x="502920" y="502920"/>
            <a:ext cx="82296" cy="457200"/>
          </a:xfrm>
          <a:prstGeom prst="rect">
            <a:avLst/>
          </a:prstGeom>
          <a:solidFill>
            <a:srgbClr val="E8112D"/>
          </a:solidFill>
          <a:ln/>
        </p:spPr>
      </p:sp>
      <p:sp>
        <p:nvSpPr>
          <p:cNvPr id="3" name="Text 1"/>
          <p:cNvSpPr/>
          <p:nvPr/>
        </p:nvSpPr>
        <p:spPr>
          <a:xfrm>
            <a:off x="713232" y="384048"/>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Step 1 — Acquiring the Reference Database</a:t>
            </a:r>
            <a:endParaRPr lang="en-US" sz="2600" dirty="0"/>
          </a:p>
        </p:txBody>
      </p:sp>
      <p:sp>
        <p:nvSpPr>
          <p:cNvPr id="4" name="Text 2"/>
          <p:cNvSpPr/>
          <p:nvPr/>
        </p:nvSpPr>
        <p:spPr>
          <a:xfrm>
            <a:off x="713232" y="868680"/>
            <a:ext cx="10515600" cy="320040"/>
          </a:xfrm>
          <a:prstGeom prst="rect">
            <a:avLst/>
          </a:prstGeom>
          <a:noFill/>
          <a:ln/>
        </p:spPr>
        <p:txBody>
          <a:bodyPr wrap="square" rtlCol="0" anchor="ctr"/>
          <a:lstStyle/>
          <a:p>
            <a:pPr marL="0" indent="0">
              <a:buNone/>
            </a:pPr>
            <a:r>
              <a:rPr lang="en-US" sz="1300" i="1" dirty="0">
                <a:solidFill>
                  <a:srgbClr val="9AA0A8"/>
                </a:solidFill>
                <a:latin typeface="Calibri" pitchFamily="34" charset="0"/>
                <a:ea typeface="Calibri" pitchFamily="34" charset="-122"/>
                <a:cs typeface="Calibri" pitchFamily="34" charset="-120"/>
              </a:rPr>
              <a:t>yt-dlp + ffmpeg</a:t>
            </a:r>
            <a:endParaRPr lang="en-US" sz="1300" dirty="0"/>
          </a:p>
        </p:txBody>
      </p:sp>
      <p:sp>
        <p:nvSpPr>
          <p:cNvPr id="5" name="Text 3"/>
          <p:cNvSpPr/>
          <p:nvPr/>
        </p:nvSpPr>
        <p:spPr>
          <a:xfrm>
            <a:off x="640080" y="1417320"/>
            <a:ext cx="10881360" cy="822960"/>
          </a:xfrm>
          <a:prstGeom prst="rect">
            <a:avLst/>
          </a:prstGeom>
          <a:noFill/>
          <a:ln/>
        </p:spPr>
        <p:txBody>
          <a:bodyPr wrap="square" rtlCol="0" anchor="ctr"/>
          <a:lstStyle/>
          <a:p>
            <a:pPr marL="0" indent="0">
              <a:lnSpc>
                <a:spcPct val="115000"/>
              </a:lnSpc>
              <a:buNone/>
            </a:pPr>
            <a:r>
              <a:rPr lang="en-US" sz="1400" dirty="0">
                <a:solidFill>
                  <a:srgbClr val="FFFFFF"/>
                </a:solidFill>
                <a:latin typeface="Calibri" pitchFamily="34" charset="0"/>
                <a:ea typeface="Calibri" pitchFamily="34" charset="-122"/>
                <a:cs typeface="Calibri" pitchFamily="34" charset="-120"/>
              </a:rPr>
              <a:t>The first task was building a reference database from 51 songs (of the 52 given — one was blocked by a copyright claim). We used automated scripts to download each track and convert it directly to .WAV.</a:t>
            </a:r>
            <a:endParaRPr lang="en-US" sz="1400" dirty="0"/>
          </a:p>
        </p:txBody>
      </p:sp>
      <p:sp>
        <p:nvSpPr>
          <p:cNvPr id="6" name="Shape 4"/>
          <p:cNvSpPr/>
          <p:nvPr/>
        </p:nvSpPr>
        <p:spPr>
          <a:xfrm>
            <a:off x="914400" y="2468880"/>
            <a:ext cx="2377440" cy="777240"/>
          </a:xfrm>
          <a:prstGeom prst="rect">
            <a:avLst/>
          </a:prstGeom>
          <a:solidFill>
            <a:srgbClr val="1F1214"/>
          </a:solidFill>
          <a:ln w="19050">
            <a:solidFill>
              <a:srgbClr val="E8112D"/>
            </a:solidFill>
            <a:prstDash val="solid"/>
          </a:ln>
        </p:spPr>
      </p:sp>
      <p:sp>
        <p:nvSpPr>
          <p:cNvPr id="7" name="Text 5"/>
          <p:cNvSpPr/>
          <p:nvPr/>
        </p:nvSpPr>
        <p:spPr>
          <a:xfrm>
            <a:off x="960120" y="2578608"/>
            <a:ext cx="2286000" cy="427482"/>
          </a:xfrm>
          <a:prstGeom prst="rect">
            <a:avLst/>
          </a:prstGeom>
          <a:noFill/>
          <a:ln/>
        </p:spPr>
        <p:txBody>
          <a:bodyPr wrap="square" rtlCol="0" anchor="b"/>
          <a:lstStyle/>
          <a:p>
            <a:pPr marL="0" indent="0" algn="ctr">
              <a:buNone/>
            </a:pPr>
            <a:r>
              <a:rPr lang="en-US" sz="1300" b="1" dirty="0">
                <a:solidFill>
                  <a:srgbClr val="FFFFFF"/>
                </a:solidFill>
                <a:latin typeface="Arial" pitchFamily="34" charset="0"/>
                <a:ea typeface="Arial" pitchFamily="34" charset="-122"/>
                <a:cs typeface="Arial" pitchFamily="34" charset="-120"/>
              </a:rPr>
              <a:t>yt-dlp</a:t>
            </a:r>
            <a:endParaRPr lang="en-US" sz="1300" dirty="0"/>
          </a:p>
        </p:txBody>
      </p:sp>
      <p:sp>
        <p:nvSpPr>
          <p:cNvPr id="8" name="Text 6"/>
          <p:cNvSpPr/>
          <p:nvPr/>
        </p:nvSpPr>
        <p:spPr>
          <a:xfrm>
            <a:off x="960120" y="2896362"/>
            <a:ext cx="2286000" cy="310896"/>
          </a:xfrm>
          <a:prstGeom prst="rect">
            <a:avLst/>
          </a:prstGeom>
          <a:noFill/>
          <a:ln/>
        </p:spPr>
        <p:txBody>
          <a:bodyPr wrap="square" rtlCol="0" anchor="t"/>
          <a:lstStyle/>
          <a:p>
            <a:pPr marL="0" indent="0" algn="ctr">
              <a:buNone/>
            </a:pPr>
            <a:r>
              <a:rPr lang="en-US" sz="950" dirty="0">
                <a:solidFill>
                  <a:srgbClr val="9AA0A8"/>
                </a:solidFill>
                <a:latin typeface="Calibri" pitchFamily="34" charset="0"/>
                <a:ea typeface="Calibri" pitchFamily="34" charset="-122"/>
                <a:cs typeface="Calibri" pitchFamily="34" charset="-120"/>
              </a:rPr>
              <a:t>Extracts audio</a:t>
            </a:r>
            <a:endParaRPr lang="en-US" sz="950" dirty="0"/>
          </a:p>
          <a:p>
            <a:pPr marL="0" indent="0" algn="ctr">
              <a:buNone/>
            </a:pPr>
            <a:r>
              <a:rPr lang="en-US" sz="950" dirty="0">
                <a:solidFill>
                  <a:srgbClr val="9AA0A8"/>
                </a:solidFill>
                <a:latin typeface="Calibri" pitchFamily="34" charset="0"/>
                <a:ea typeface="Calibri" pitchFamily="34" charset="-122"/>
                <a:cs typeface="Calibri" pitchFamily="34" charset="-120"/>
              </a:rPr>
              <a:t>from YouTube</a:t>
            </a:r>
            <a:endParaRPr lang="en-US" sz="950" dirty="0"/>
          </a:p>
        </p:txBody>
      </p:sp>
      <p:sp>
        <p:nvSpPr>
          <p:cNvPr id="9" name="Shape 7"/>
          <p:cNvSpPr/>
          <p:nvPr/>
        </p:nvSpPr>
        <p:spPr>
          <a:xfrm>
            <a:off x="3337560" y="2852928"/>
            <a:ext cx="640080" cy="0"/>
          </a:xfrm>
          <a:prstGeom prst="line">
            <a:avLst/>
          </a:prstGeom>
          <a:noFill/>
          <a:ln w="25400">
            <a:solidFill>
              <a:srgbClr val="E8112D"/>
            </a:solidFill>
            <a:prstDash val="solid"/>
            <a:tailEnd type="triangle"/>
          </a:ln>
        </p:spPr>
      </p:sp>
      <p:sp>
        <p:nvSpPr>
          <p:cNvPr id="10" name="Shape 8"/>
          <p:cNvSpPr/>
          <p:nvPr/>
        </p:nvSpPr>
        <p:spPr>
          <a:xfrm>
            <a:off x="4023360" y="2468880"/>
            <a:ext cx="2377440" cy="777240"/>
          </a:xfrm>
          <a:prstGeom prst="rect">
            <a:avLst/>
          </a:prstGeom>
          <a:solidFill>
            <a:srgbClr val="1F1214"/>
          </a:solidFill>
          <a:ln w="19050">
            <a:solidFill>
              <a:srgbClr val="E8112D"/>
            </a:solidFill>
            <a:prstDash val="solid"/>
          </a:ln>
        </p:spPr>
      </p:sp>
      <p:sp>
        <p:nvSpPr>
          <p:cNvPr id="11" name="Text 9"/>
          <p:cNvSpPr/>
          <p:nvPr/>
        </p:nvSpPr>
        <p:spPr>
          <a:xfrm>
            <a:off x="4069080" y="2578608"/>
            <a:ext cx="2286000" cy="427482"/>
          </a:xfrm>
          <a:prstGeom prst="rect">
            <a:avLst/>
          </a:prstGeom>
          <a:noFill/>
          <a:ln/>
        </p:spPr>
        <p:txBody>
          <a:bodyPr wrap="square" rtlCol="0" anchor="b"/>
          <a:lstStyle/>
          <a:p>
            <a:pPr marL="0" indent="0" algn="ctr">
              <a:buNone/>
            </a:pPr>
            <a:r>
              <a:rPr lang="en-US" sz="1300" b="1" dirty="0">
                <a:solidFill>
                  <a:srgbClr val="FFFFFF"/>
                </a:solidFill>
                <a:latin typeface="Arial" pitchFamily="34" charset="0"/>
                <a:ea typeface="Arial" pitchFamily="34" charset="-122"/>
                <a:cs typeface="Arial" pitchFamily="34" charset="-120"/>
              </a:rPr>
              <a:t>ffmpeg</a:t>
            </a:r>
            <a:endParaRPr lang="en-US" sz="1300" dirty="0"/>
          </a:p>
        </p:txBody>
      </p:sp>
      <p:sp>
        <p:nvSpPr>
          <p:cNvPr id="12" name="Text 10"/>
          <p:cNvSpPr/>
          <p:nvPr/>
        </p:nvSpPr>
        <p:spPr>
          <a:xfrm>
            <a:off x="4069080" y="2896362"/>
            <a:ext cx="2286000" cy="310896"/>
          </a:xfrm>
          <a:prstGeom prst="rect">
            <a:avLst/>
          </a:prstGeom>
          <a:noFill/>
          <a:ln/>
        </p:spPr>
        <p:txBody>
          <a:bodyPr wrap="square" rtlCol="0" anchor="t"/>
          <a:lstStyle/>
          <a:p>
            <a:pPr marL="0" indent="0" algn="ctr">
              <a:buNone/>
            </a:pPr>
            <a:r>
              <a:rPr lang="en-US" sz="950" dirty="0">
                <a:solidFill>
                  <a:srgbClr val="9AA0A8"/>
                </a:solidFill>
                <a:latin typeface="Calibri" pitchFamily="34" charset="0"/>
                <a:ea typeface="Calibri" pitchFamily="34" charset="-122"/>
                <a:cs typeface="Calibri" pitchFamily="34" charset="-120"/>
              </a:rPr>
              <a:t>Converts to</a:t>
            </a:r>
            <a:endParaRPr lang="en-US" sz="950" dirty="0"/>
          </a:p>
          <a:p>
            <a:pPr marL="0" indent="0" algn="ctr">
              <a:buNone/>
            </a:pPr>
            <a:r>
              <a:rPr lang="en-US" sz="950" dirty="0">
                <a:solidFill>
                  <a:srgbClr val="9AA0A8"/>
                </a:solidFill>
                <a:latin typeface="Calibri" pitchFamily="34" charset="0"/>
                <a:ea typeface="Calibri" pitchFamily="34" charset="-122"/>
                <a:cs typeface="Calibri" pitchFamily="34" charset="-120"/>
              </a:rPr>
              <a:t>.WAV format</a:t>
            </a:r>
            <a:endParaRPr lang="en-US" sz="950" dirty="0"/>
          </a:p>
        </p:txBody>
      </p:sp>
      <p:sp>
        <p:nvSpPr>
          <p:cNvPr id="13" name="Shape 11"/>
          <p:cNvSpPr/>
          <p:nvPr/>
        </p:nvSpPr>
        <p:spPr>
          <a:xfrm>
            <a:off x="6446520" y="2852928"/>
            <a:ext cx="640080" cy="0"/>
          </a:xfrm>
          <a:prstGeom prst="line">
            <a:avLst/>
          </a:prstGeom>
          <a:noFill/>
          <a:ln w="25400">
            <a:solidFill>
              <a:srgbClr val="E8112D"/>
            </a:solidFill>
            <a:prstDash val="solid"/>
            <a:tailEnd type="triangle"/>
          </a:ln>
        </p:spPr>
      </p:sp>
      <p:sp>
        <p:nvSpPr>
          <p:cNvPr id="14" name="Shape 12"/>
          <p:cNvSpPr/>
          <p:nvPr/>
        </p:nvSpPr>
        <p:spPr>
          <a:xfrm>
            <a:off x="7132320" y="2468880"/>
            <a:ext cx="2377440" cy="777240"/>
          </a:xfrm>
          <a:prstGeom prst="rect">
            <a:avLst/>
          </a:prstGeom>
          <a:solidFill>
            <a:srgbClr val="1F1214"/>
          </a:solidFill>
          <a:ln w="19050">
            <a:solidFill>
              <a:srgbClr val="E8112D"/>
            </a:solidFill>
            <a:prstDash val="solid"/>
          </a:ln>
        </p:spPr>
      </p:sp>
      <p:sp>
        <p:nvSpPr>
          <p:cNvPr id="15" name="Text 13"/>
          <p:cNvSpPr/>
          <p:nvPr/>
        </p:nvSpPr>
        <p:spPr>
          <a:xfrm>
            <a:off x="7178040" y="2578608"/>
            <a:ext cx="2286000" cy="427482"/>
          </a:xfrm>
          <a:prstGeom prst="rect">
            <a:avLst/>
          </a:prstGeom>
          <a:noFill/>
          <a:ln/>
        </p:spPr>
        <p:txBody>
          <a:bodyPr wrap="square" rtlCol="0" anchor="b"/>
          <a:lstStyle/>
          <a:p>
            <a:pPr marL="0" indent="0" algn="ctr">
              <a:buNone/>
            </a:pPr>
            <a:r>
              <a:rPr lang="en-US" sz="1300" b="1" dirty="0">
                <a:solidFill>
                  <a:srgbClr val="FFFFFF"/>
                </a:solidFill>
                <a:latin typeface="Arial" pitchFamily="34" charset="0"/>
                <a:ea typeface="Arial" pitchFamily="34" charset="-122"/>
                <a:cs typeface="Arial" pitchFamily="34" charset="-120"/>
              </a:rPr>
              <a:t>51 songs</a:t>
            </a:r>
            <a:endParaRPr lang="en-US" sz="1300" dirty="0"/>
          </a:p>
        </p:txBody>
      </p:sp>
      <p:sp>
        <p:nvSpPr>
          <p:cNvPr id="16" name="Text 14"/>
          <p:cNvSpPr/>
          <p:nvPr/>
        </p:nvSpPr>
        <p:spPr>
          <a:xfrm>
            <a:off x="7178040" y="2896362"/>
            <a:ext cx="2286000" cy="310896"/>
          </a:xfrm>
          <a:prstGeom prst="rect">
            <a:avLst/>
          </a:prstGeom>
          <a:noFill/>
          <a:ln/>
        </p:spPr>
        <p:txBody>
          <a:bodyPr wrap="square" rtlCol="0" anchor="t"/>
          <a:lstStyle/>
          <a:p>
            <a:pPr marL="0" indent="0" algn="ctr">
              <a:buNone/>
            </a:pPr>
            <a:r>
              <a:rPr lang="en-US" sz="950" dirty="0">
                <a:solidFill>
                  <a:srgbClr val="9AA0A8"/>
                </a:solidFill>
                <a:latin typeface="Calibri" pitchFamily="34" charset="0"/>
                <a:ea typeface="Calibri" pitchFamily="34" charset="-122"/>
                <a:cs typeface="Calibri" pitchFamily="34" charset="-120"/>
              </a:rPr>
              <a:t>Ready for</a:t>
            </a:r>
            <a:endParaRPr lang="en-US" sz="950" dirty="0"/>
          </a:p>
          <a:p>
            <a:pPr marL="0" indent="0" algn="ctr">
              <a:buNone/>
            </a:pPr>
            <a:r>
              <a:rPr lang="en-US" sz="950" dirty="0">
                <a:solidFill>
                  <a:srgbClr val="9AA0A8"/>
                </a:solidFill>
                <a:latin typeface="Calibri" pitchFamily="34" charset="0"/>
                <a:ea typeface="Calibri" pitchFamily="34" charset="-122"/>
                <a:cs typeface="Calibri" pitchFamily="34" charset="-120"/>
              </a:rPr>
              <a:t>fingerprinting</a:t>
            </a:r>
            <a:endParaRPr lang="en-US" sz="950" dirty="0"/>
          </a:p>
        </p:txBody>
      </p:sp>
      <p:sp>
        <p:nvSpPr>
          <p:cNvPr id="17" name="Shape 15"/>
          <p:cNvSpPr/>
          <p:nvPr/>
        </p:nvSpPr>
        <p:spPr>
          <a:xfrm>
            <a:off x="640080" y="3749040"/>
            <a:ext cx="10881360" cy="2148840"/>
          </a:xfrm>
          <a:prstGeom prst="rect">
            <a:avLst/>
          </a:prstGeom>
          <a:solidFill>
            <a:srgbClr val="6E0E1B"/>
          </a:solidFill>
          <a:ln/>
        </p:spPr>
      </p:sp>
      <p:sp>
        <p:nvSpPr>
          <p:cNvPr id="18" name="Text 16"/>
          <p:cNvSpPr/>
          <p:nvPr/>
        </p:nvSpPr>
        <p:spPr>
          <a:xfrm>
            <a:off x="914400" y="3931920"/>
            <a:ext cx="10241280" cy="365760"/>
          </a:xfrm>
          <a:prstGeom prst="rect">
            <a:avLst/>
          </a:prstGeom>
          <a:noFill/>
          <a:ln/>
        </p:spPr>
        <p:txBody>
          <a:bodyPr wrap="square" rtlCol="0" anchor="ctr"/>
          <a:lstStyle/>
          <a:p>
            <a:pPr marL="0" indent="0">
              <a:buNone/>
            </a:pPr>
            <a:r>
              <a:rPr lang="en-US" sz="1600" b="1" kern="0" spc="100" dirty="0">
                <a:solidFill>
                  <a:srgbClr val="FFFFFF"/>
                </a:solidFill>
                <a:latin typeface="Arial" pitchFamily="34" charset="0"/>
                <a:ea typeface="Arial" pitchFamily="34" charset="-122"/>
                <a:cs typeface="Arial" pitchFamily="34" charset="-120"/>
              </a:rPr>
              <a:t>WHY .WAV, NOT .MP3?</a:t>
            </a:r>
            <a:endParaRPr lang="en-US" sz="1600" dirty="0"/>
          </a:p>
        </p:txBody>
      </p:sp>
      <p:sp>
        <p:nvSpPr>
          <p:cNvPr id="19" name="Text 17"/>
          <p:cNvSpPr/>
          <p:nvPr/>
        </p:nvSpPr>
        <p:spPr>
          <a:xfrm>
            <a:off x="914400" y="4343400"/>
            <a:ext cx="10241280" cy="1417320"/>
          </a:xfrm>
          <a:prstGeom prst="rect">
            <a:avLst/>
          </a:prstGeom>
          <a:noFill/>
          <a:ln/>
        </p:spPr>
        <p:txBody>
          <a:bodyPr wrap="square" rtlCol="0" anchor="t"/>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WAV is lossless and uncompressed. MP3 compression discards frequency information the human ear barely notices — but our peak-extraction algorithm depends on exactly that information. Compression artifacts would distort the spectrum and quietly ruin fingerprinting accuracy before we even began.</a:t>
            </a:r>
            <a:endParaRPr lang="en-US" sz="1450" dirty="0"/>
          </a:p>
        </p:txBody>
      </p:sp>
      <p:sp>
        <p:nvSpPr>
          <p:cNvPr id="20" name="Text 18"/>
          <p:cNvSpPr/>
          <p:nvPr/>
        </p:nvSpPr>
        <p:spPr>
          <a:xfrm>
            <a:off x="502920" y="6510528"/>
            <a:ext cx="5486400" cy="274320"/>
          </a:xfrm>
          <a:prstGeom prst="rect">
            <a:avLst/>
          </a:prstGeom>
          <a:noFill/>
          <a:ln/>
        </p:spPr>
        <p:txBody>
          <a:bodyPr wrap="square" rtlCol="0" anchor="ctr"/>
          <a:lstStyle/>
          <a:p>
            <a:pPr marL="0" indent="0">
              <a:buNone/>
            </a:pPr>
            <a:r>
              <a:rPr lang="en-US" sz="900" dirty="0">
                <a:solidFill>
                  <a:srgbClr val="5C6169"/>
                </a:solidFill>
                <a:latin typeface="Calibri" pitchFamily="34" charset="0"/>
                <a:ea typeface="Calibri" pitchFamily="34" charset="-122"/>
                <a:cs typeface="Calibri" pitchFamily="34" charset="-120"/>
              </a:rPr>
              <a:t>Audio Pattern Recognition System</a:t>
            </a:r>
            <a:endParaRPr lang="en-US" sz="900" dirty="0"/>
          </a:p>
        </p:txBody>
      </p:sp>
      <p:sp>
        <p:nvSpPr>
          <p:cNvPr id="21" name="Text 19"/>
          <p:cNvSpPr/>
          <p:nvPr/>
        </p:nvSpPr>
        <p:spPr>
          <a:xfrm>
            <a:off x="11338560" y="6510528"/>
            <a:ext cx="365760" cy="274320"/>
          </a:xfrm>
          <a:prstGeom prst="rect">
            <a:avLst/>
          </a:prstGeom>
          <a:noFill/>
          <a:ln/>
        </p:spPr>
        <p:txBody>
          <a:bodyPr wrap="square" rtlCol="0" anchor="ctr"/>
          <a:lstStyle/>
          <a:p>
            <a:pPr marL="0" indent="0" algn="r">
              <a:buNone/>
            </a:pPr>
            <a:r>
              <a:rPr lang="en-US" sz="900" dirty="0">
                <a:solidFill>
                  <a:srgbClr val="5C616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C"/>
        </a:solidFill>
        <a:effectLst/>
      </p:bgPr>
    </p:bg>
    <p:spTree>
      <p:nvGrpSpPr>
        <p:cNvPr id="1" name=""/>
        <p:cNvGrpSpPr/>
        <p:nvPr/>
      </p:nvGrpSpPr>
      <p:grpSpPr>
        <a:xfrm>
          <a:off x="0" y="0"/>
          <a:ext cx="0" cy="0"/>
          <a:chOff x="0" y="0"/>
          <a:chExt cx="0" cy="0"/>
        </a:xfrm>
      </p:grpSpPr>
      <p:sp>
        <p:nvSpPr>
          <p:cNvPr id="2" name="Shape 0"/>
          <p:cNvSpPr/>
          <p:nvPr/>
        </p:nvSpPr>
        <p:spPr>
          <a:xfrm>
            <a:off x="502920" y="502920"/>
            <a:ext cx="82296" cy="457200"/>
          </a:xfrm>
          <a:prstGeom prst="rect">
            <a:avLst/>
          </a:prstGeom>
          <a:solidFill>
            <a:srgbClr val="E8112D"/>
          </a:solidFill>
          <a:ln/>
        </p:spPr>
      </p:sp>
      <p:sp>
        <p:nvSpPr>
          <p:cNvPr id="3" name="Text 1"/>
          <p:cNvSpPr/>
          <p:nvPr/>
        </p:nvSpPr>
        <p:spPr>
          <a:xfrm>
            <a:off x="713232" y="384048"/>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Step 2 — Offline Signal Processing Pipeline</a:t>
            </a:r>
            <a:endParaRPr lang="en-US" sz="2600" dirty="0"/>
          </a:p>
        </p:txBody>
      </p:sp>
      <p:sp>
        <p:nvSpPr>
          <p:cNvPr id="4" name="Text 2"/>
          <p:cNvSpPr/>
          <p:nvPr/>
        </p:nvSpPr>
        <p:spPr>
          <a:xfrm>
            <a:off x="640080" y="1371600"/>
            <a:ext cx="10881360" cy="365760"/>
          </a:xfrm>
          <a:prstGeom prst="rect">
            <a:avLst/>
          </a:prstGeom>
          <a:noFill/>
          <a:ln/>
        </p:spPr>
        <p:txBody>
          <a:bodyPr wrap="square" rtlCol="0" anchor="ctr"/>
          <a:lstStyle/>
          <a:p>
            <a:pPr marL="0" indent="0">
              <a:buNone/>
            </a:pPr>
            <a:r>
              <a:rPr lang="en-US" sz="1400" dirty="0">
                <a:solidFill>
                  <a:srgbClr val="9AA0A8"/>
                </a:solidFill>
                <a:latin typeface="Calibri" pitchFamily="34" charset="0"/>
                <a:ea typeface="Calibri" pitchFamily="34" charset="-122"/>
                <a:cs typeface="Calibri" pitchFamily="34" charset="-120"/>
              </a:rPr>
              <a:t>Every WAV file goes through the same five-stage pipeline before it becomes a fingerprint.</a:t>
            </a:r>
            <a:endParaRPr lang="en-US" sz="1400" dirty="0"/>
          </a:p>
        </p:txBody>
      </p:sp>
      <p:sp>
        <p:nvSpPr>
          <p:cNvPr id="5" name="Shape 3"/>
          <p:cNvSpPr/>
          <p:nvPr/>
        </p:nvSpPr>
        <p:spPr>
          <a:xfrm>
            <a:off x="548640" y="2011680"/>
            <a:ext cx="1965960" cy="914400"/>
          </a:xfrm>
          <a:prstGeom prst="rect">
            <a:avLst/>
          </a:prstGeom>
          <a:solidFill>
            <a:srgbClr val="1F1214"/>
          </a:solidFill>
          <a:ln w="19050">
            <a:solidFill>
              <a:srgbClr val="E8112D"/>
            </a:solidFill>
            <a:prstDash val="solid"/>
          </a:ln>
        </p:spPr>
      </p:sp>
      <p:sp>
        <p:nvSpPr>
          <p:cNvPr id="6" name="Text 4"/>
          <p:cNvSpPr/>
          <p:nvPr/>
        </p:nvSpPr>
        <p:spPr>
          <a:xfrm>
            <a:off x="594360" y="2011680"/>
            <a:ext cx="1874520" cy="9144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Mono</a:t>
            </a:r>
            <a:endParaRPr lang="en-US" sz="1300" dirty="0"/>
          </a:p>
        </p:txBody>
      </p:sp>
      <p:sp>
        <p:nvSpPr>
          <p:cNvPr id="7" name="Shape 5"/>
          <p:cNvSpPr/>
          <p:nvPr/>
        </p:nvSpPr>
        <p:spPr>
          <a:xfrm>
            <a:off x="2514600" y="2468880"/>
            <a:ext cx="320040" cy="0"/>
          </a:xfrm>
          <a:prstGeom prst="line">
            <a:avLst/>
          </a:prstGeom>
          <a:noFill/>
          <a:ln w="25400">
            <a:solidFill>
              <a:srgbClr val="E8112D"/>
            </a:solidFill>
            <a:prstDash val="solid"/>
            <a:tailEnd type="triangle"/>
          </a:ln>
        </p:spPr>
      </p:sp>
      <p:sp>
        <p:nvSpPr>
          <p:cNvPr id="8" name="Shape 6"/>
          <p:cNvSpPr/>
          <p:nvPr/>
        </p:nvSpPr>
        <p:spPr>
          <a:xfrm>
            <a:off x="2834640" y="2011680"/>
            <a:ext cx="1965960" cy="914400"/>
          </a:xfrm>
          <a:prstGeom prst="rect">
            <a:avLst/>
          </a:prstGeom>
          <a:solidFill>
            <a:srgbClr val="1F1214"/>
          </a:solidFill>
          <a:ln w="19050">
            <a:solidFill>
              <a:srgbClr val="E8112D"/>
            </a:solidFill>
            <a:prstDash val="solid"/>
          </a:ln>
        </p:spPr>
      </p:sp>
      <p:sp>
        <p:nvSpPr>
          <p:cNvPr id="9" name="Text 7"/>
          <p:cNvSpPr/>
          <p:nvPr/>
        </p:nvSpPr>
        <p:spPr>
          <a:xfrm>
            <a:off x="2880360" y="2011680"/>
            <a:ext cx="1874520" cy="9144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8000 Hz</a:t>
            </a:r>
            <a:endParaRPr lang="en-US" sz="1300" dirty="0"/>
          </a:p>
        </p:txBody>
      </p:sp>
      <p:sp>
        <p:nvSpPr>
          <p:cNvPr id="10" name="Shape 8"/>
          <p:cNvSpPr/>
          <p:nvPr/>
        </p:nvSpPr>
        <p:spPr>
          <a:xfrm>
            <a:off x="4800600" y="2468880"/>
            <a:ext cx="320040" cy="0"/>
          </a:xfrm>
          <a:prstGeom prst="line">
            <a:avLst/>
          </a:prstGeom>
          <a:noFill/>
          <a:ln w="25400">
            <a:solidFill>
              <a:srgbClr val="E8112D"/>
            </a:solidFill>
            <a:prstDash val="solid"/>
            <a:tailEnd type="triangle"/>
          </a:ln>
        </p:spPr>
      </p:sp>
      <p:sp>
        <p:nvSpPr>
          <p:cNvPr id="11" name="Shape 9"/>
          <p:cNvSpPr/>
          <p:nvPr/>
        </p:nvSpPr>
        <p:spPr>
          <a:xfrm>
            <a:off x="5120640" y="2011680"/>
            <a:ext cx="1965960" cy="914400"/>
          </a:xfrm>
          <a:prstGeom prst="rect">
            <a:avLst/>
          </a:prstGeom>
          <a:solidFill>
            <a:srgbClr val="1F1214"/>
          </a:solidFill>
          <a:ln w="19050">
            <a:solidFill>
              <a:srgbClr val="E8112D"/>
            </a:solidFill>
            <a:prstDash val="solid"/>
          </a:ln>
        </p:spPr>
      </p:sp>
      <p:sp>
        <p:nvSpPr>
          <p:cNvPr id="12" name="Text 10"/>
          <p:cNvSpPr/>
          <p:nvPr/>
        </p:nvSpPr>
        <p:spPr>
          <a:xfrm>
            <a:off x="5166360" y="2011680"/>
            <a:ext cx="1874520" cy="9144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Pre-emphasis</a:t>
            </a:r>
            <a:endParaRPr lang="en-US" sz="1300" dirty="0"/>
          </a:p>
        </p:txBody>
      </p:sp>
      <p:sp>
        <p:nvSpPr>
          <p:cNvPr id="13" name="Shape 11"/>
          <p:cNvSpPr/>
          <p:nvPr/>
        </p:nvSpPr>
        <p:spPr>
          <a:xfrm>
            <a:off x="7086600" y="2468880"/>
            <a:ext cx="320040" cy="0"/>
          </a:xfrm>
          <a:prstGeom prst="line">
            <a:avLst/>
          </a:prstGeom>
          <a:noFill/>
          <a:ln w="25400">
            <a:solidFill>
              <a:srgbClr val="E8112D"/>
            </a:solidFill>
            <a:prstDash val="solid"/>
            <a:tailEnd type="triangle"/>
          </a:ln>
        </p:spPr>
      </p:sp>
      <p:sp>
        <p:nvSpPr>
          <p:cNvPr id="14" name="Shape 12"/>
          <p:cNvSpPr/>
          <p:nvPr/>
        </p:nvSpPr>
        <p:spPr>
          <a:xfrm>
            <a:off x="7406640" y="2011680"/>
            <a:ext cx="1965960" cy="914400"/>
          </a:xfrm>
          <a:prstGeom prst="rect">
            <a:avLst/>
          </a:prstGeom>
          <a:solidFill>
            <a:srgbClr val="1F1214"/>
          </a:solidFill>
          <a:ln w="19050">
            <a:solidFill>
              <a:srgbClr val="E8112D"/>
            </a:solidFill>
            <a:prstDash val="solid"/>
          </a:ln>
        </p:spPr>
      </p:sp>
      <p:sp>
        <p:nvSpPr>
          <p:cNvPr id="15" name="Text 13"/>
          <p:cNvSpPr/>
          <p:nvPr/>
        </p:nvSpPr>
        <p:spPr>
          <a:xfrm>
            <a:off x="7452360" y="2011680"/>
            <a:ext cx="1874520" cy="9144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Spectrogram</a:t>
            </a:r>
            <a:endParaRPr lang="en-US" sz="1300" dirty="0"/>
          </a:p>
        </p:txBody>
      </p:sp>
      <p:sp>
        <p:nvSpPr>
          <p:cNvPr id="16" name="Shape 14"/>
          <p:cNvSpPr/>
          <p:nvPr/>
        </p:nvSpPr>
        <p:spPr>
          <a:xfrm>
            <a:off x="9372600" y="2468880"/>
            <a:ext cx="320040" cy="0"/>
          </a:xfrm>
          <a:prstGeom prst="line">
            <a:avLst/>
          </a:prstGeom>
          <a:noFill/>
          <a:ln w="25400">
            <a:solidFill>
              <a:srgbClr val="E8112D"/>
            </a:solidFill>
            <a:prstDash val="solid"/>
            <a:tailEnd type="triangle"/>
          </a:ln>
        </p:spPr>
      </p:sp>
      <p:sp>
        <p:nvSpPr>
          <p:cNvPr id="17" name="Shape 15"/>
          <p:cNvSpPr/>
          <p:nvPr/>
        </p:nvSpPr>
        <p:spPr>
          <a:xfrm>
            <a:off x="9692640" y="2011680"/>
            <a:ext cx="1965960" cy="914400"/>
          </a:xfrm>
          <a:prstGeom prst="rect">
            <a:avLst/>
          </a:prstGeom>
          <a:solidFill>
            <a:srgbClr val="1F1214"/>
          </a:solidFill>
          <a:ln w="19050">
            <a:solidFill>
              <a:srgbClr val="E8112D"/>
            </a:solidFill>
            <a:prstDash val="solid"/>
          </a:ln>
        </p:spPr>
      </p:sp>
      <p:sp>
        <p:nvSpPr>
          <p:cNvPr id="18" name="Text 16"/>
          <p:cNvSpPr/>
          <p:nvPr/>
        </p:nvSpPr>
        <p:spPr>
          <a:xfrm>
            <a:off x="9738360" y="2011680"/>
            <a:ext cx="1874520" cy="9144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Hash Key</a:t>
            </a:r>
            <a:endParaRPr lang="en-US" sz="1300" dirty="0"/>
          </a:p>
        </p:txBody>
      </p:sp>
      <p:sp>
        <p:nvSpPr>
          <p:cNvPr id="19" name="Shape 17"/>
          <p:cNvSpPr/>
          <p:nvPr/>
        </p:nvSpPr>
        <p:spPr>
          <a:xfrm>
            <a:off x="640080" y="3429000"/>
            <a:ext cx="10881360" cy="1417320"/>
          </a:xfrm>
          <a:prstGeom prst="rect">
            <a:avLst/>
          </a:prstGeom>
          <a:solidFill>
            <a:srgbClr val="170B0D"/>
          </a:solidFill>
          <a:ln w="12700">
            <a:solidFill>
              <a:srgbClr val="6E0E1B"/>
            </a:solidFill>
            <a:prstDash val="solid"/>
          </a:ln>
        </p:spPr>
      </p:sp>
      <p:sp>
        <p:nvSpPr>
          <p:cNvPr id="20" name="Text 18"/>
          <p:cNvSpPr/>
          <p:nvPr/>
        </p:nvSpPr>
        <p:spPr>
          <a:xfrm>
            <a:off x="914400" y="3611880"/>
            <a:ext cx="4572000" cy="320040"/>
          </a:xfrm>
          <a:prstGeom prst="rect">
            <a:avLst/>
          </a:prstGeom>
          <a:noFill/>
          <a:ln/>
        </p:spPr>
        <p:txBody>
          <a:bodyPr wrap="square" rtlCol="0" anchor="ctr"/>
          <a:lstStyle/>
          <a:p>
            <a:pPr marL="0" indent="0">
              <a:buNone/>
            </a:pPr>
            <a:r>
              <a:rPr lang="en-US" sz="1200" b="1" kern="0" spc="100" dirty="0">
                <a:solidFill>
                  <a:srgbClr val="E8112D"/>
                </a:solidFill>
                <a:latin typeface="Calibri" pitchFamily="34" charset="0"/>
                <a:ea typeface="Calibri" pitchFamily="34" charset="-122"/>
                <a:cs typeface="Calibri" pitchFamily="34" charset="-120"/>
              </a:rPr>
              <a:t>PRE-EMPHASIS FILTER</a:t>
            </a:r>
            <a:endParaRPr lang="en-US" sz="1200" dirty="0"/>
          </a:p>
        </p:txBody>
      </p:sp>
      <p:sp>
        <p:nvSpPr>
          <p:cNvPr id="21" name="Text 19"/>
          <p:cNvSpPr/>
          <p:nvPr/>
        </p:nvSpPr>
        <p:spPr>
          <a:xfrm>
            <a:off x="914400" y="3931920"/>
            <a:ext cx="5486400" cy="548640"/>
          </a:xfrm>
          <a:prstGeom prst="rect">
            <a:avLst/>
          </a:prstGeom>
          <a:noFill/>
          <a:ln/>
        </p:spPr>
        <p:txBody>
          <a:bodyPr wrap="square" rtlCol="0" anchor="ctr"/>
          <a:lstStyle/>
          <a:p>
            <a:pPr marL="0" indent="0">
              <a:buNone/>
            </a:pPr>
            <a:r>
              <a:rPr lang="en-US" sz="2200" b="1" dirty="0">
                <a:solidFill>
                  <a:srgbClr val="FFFFFF"/>
                </a:solidFill>
                <a:latin typeface="Consolas" pitchFamily="34" charset="0"/>
                <a:ea typeface="Consolas" pitchFamily="34" charset="-122"/>
                <a:cs typeface="Consolas" pitchFamily="34" charset="-120"/>
              </a:rPr>
              <a:t>y[n]  =  x[n]  −  0.95 x[n−1]</a:t>
            </a:r>
            <a:endParaRPr lang="en-US" sz="2200" dirty="0"/>
          </a:p>
        </p:txBody>
      </p:sp>
      <p:sp>
        <p:nvSpPr>
          <p:cNvPr id="22" name="Text 20"/>
          <p:cNvSpPr/>
          <p:nvPr/>
        </p:nvSpPr>
        <p:spPr>
          <a:xfrm>
            <a:off x="6675120" y="3611880"/>
            <a:ext cx="4709160" cy="1097280"/>
          </a:xfrm>
          <a:prstGeom prst="rect">
            <a:avLst/>
          </a:prstGeom>
          <a:noFill/>
          <a:ln/>
        </p:spPr>
        <p:txBody>
          <a:bodyPr wrap="square" rtlCol="0" anchor="ctr"/>
          <a:lstStyle/>
          <a:p>
            <a:pPr marL="0" indent="0">
              <a:lnSpc>
                <a:spcPct val="110000"/>
              </a:lnSpc>
              <a:buNone/>
            </a:pPr>
            <a:r>
              <a:rPr lang="en-US" sz="1250" dirty="0">
                <a:solidFill>
                  <a:srgbClr val="9AA0A8"/>
                </a:solidFill>
                <a:latin typeface="Calibri" pitchFamily="34" charset="0"/>
                <a:ea typeface="Calibri" pitchFamily="34" charset="-122"/>
                <a:cs typeface="Calibri" pitchFamily="34" charset="-120"/>
              </a:rPr>
              <a:t>Boosts high-frequency detail before the spectrogram is computed — otherwise sparse instrumental content gets buried under bass-heavy energy.</a:t>
            </a:r>
            <a:endParaRPr lang="en-US" sz="1250" dirty="0"/>
          </a:p>
        </p:txBody>
      </p:sp>
      <p:sp>
        <p:nvSpPr>
          <p:cNvPr id="23" name="Text 21"/>
          <p:cNvSpPr/>
          <p:nvPr/>
        </p:nvSpPr>
        <p:spPr>
          <a:xfrm>
            <a:off x="640080" y="5029200"/>
            <a:ext cx="10881360" cy="548640"/>
          </a:xfrm>
          <a:prstGeom prst="rect">
            <a:avLst/>
          </a:prstGeom>
          <a:noFill/>
          <a:ln/>
        </p:spPr>
        <p:txBody>
          <a:bodyPr wrap="square" rtlCol="0" anchor="ctr"/>
          <a:lstStyle/>
          <a:p>
            <a:pPr marL="0" indent="0">
              <a:buNone/>
            </a:pPr>
            <a:r>
              <a:rPr lang="en-US" sz="1250" i="1" dirty="0">
                <a:solidFill>
                  <a:srgbClr val="9AA0A8"/>
                </a:solidFill>
                <a:latin typeface="Calibri" pitchFamily="34" charset="0"/>
                <a:ea typeface="Calibri" pitchFamily="34" charset="-122"/>
                <a:cs typeface="Calibri" pitchFamily="34" charset="-120"/>
              </a:rPr>
              <a:t>Downsampling to 8 kHz cuts computation by 6× with no real loss — music's identifying content lives well under the 4 kHz Nyquist limit anyway.</a:t>
            </a:r>
            <a:endParaRPr lang="en-US" sz="1250" dirty="0"/>
          </a:p>
        </p:txBody>
      </p:sp>
      <p:sp>
        <p:nvSpPr>
          <p:cNvPr id="24" name="Text 22"/>
          <p:cNvSpPr/>
          <p:nvPr/>
        </p:nvSpPr>
        <p:spPr>
          <a:xfrm>
            <a:off x="502920" y="6510528"/>
            <a:ext cx="5486400" cy="274320"/>
          </a:xfrm>
          <a:prstGeom prst="rect">
            <a:avLst/>
          </a:prstGeom>
          <a:noFill/>
          <a:ln/>
        </p:spPr>
        <p:txBody>
          <a:bodyPr wrap="square" rtlCol="0" anchor="ctr"/>
          <a:lstStyle/>
          <a:p>
            <a:pPr marL="0" indent="0">
              <a:buNone/>
            </a:pPr>
            <a:r>
              <a:rPr lang="en-US" sz="900" dirty="0">
                <a:solidFill>
                  <a:srgbClr val="5C6169"/>
                </a:solidFill>
                <a:latin typeface="Calibri" pitchFamily="34" charset="0"/>
                <a:ea typeface="Calibri" pitchFamily="34" charset="-122"/>
                <a:cs typeface="Calibri" pitchFamily="34" charset="-120"/>
              </a:rPr>
              <a:t>Audio Pattern Recognition System</a:t>
            </a:r>
            <a:endParaRPr lang="en-US" sz="900" dirty="0"/>
          </a:p>
        </p:txBody>
      </p:sp>
      <p:sp>
        <p:nvSpPr>
          <p:cNvPr id="25" name="Text 23"/>
          <p:cNvSpPr/>
          <p:nvPr/>
        </p:nvSpPr>
        <p:spPr>
          <a:xfrm>
            <a:off x="11338560" y="6510528"/>
            <a:ext cx="365760" cy="274320"/>
          </a:xfrm>
          <a:prstGeom prst="rect">
            <a:avLst/>
          </a:prstGeom>
          <a:noFill/>
          <a:ln/>
        </p:spPr>
        <p:txBody>
          <a:bodyPr wrap="square" rtlCol="0" anchor="ctr"/>
          <a:lstStyle/>
          <a:p>
            <a:pPr marL="0" indent="0" algn="r">
              <a:buNone/>
            </a:pPr>
            <a:r>
              <a:rPr lang="en-US" sz="900" dirty="0">
                <a:solidFill>
                  <a:srgbClr val="5C616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C"/>
        </a:solidFill>
        <a:effectLst/>
      </p:bgPr>
    </p:bg>
    <p:spTree>
      <p:nvGrpSpPr>
        <p:cNvPr id="1" name=""/>
        <p:cNvGrpSpPr/>
        <p:nvPr/>
      </p:nvGrpSpPr>
      <p:grpSpPr>
        <a:xfrm>
          <a:off x="0" y="0"/>
          <a:ext cx="0" cy="0"/>
          <a:chOff x="0" y="0"/>
          <a:chExt cx="0" cy="0"/>
        </a:xfrm>
      </p:grpSpPr>
      <p:sp>
        <p:nvSpPr>
          <p:cNvPr id="2" name="Shape 0"/>
          <p:cNvSpPr/>
          <p:nvPr/>
        </p:nvSpPr>
        <p:spPr>
          <a:xfrm>
            <a:off x="502920" y="502920"/>
            <a:ext cx="82296" cy="457200"/>
          </a:xfrm>
          <a:prstGeom prst="rect">
            <a:avLst/>
          </a:prstGeom>
          <a:solidFill>
            <a:srgbClr val="E8112D"/>
          </a:solidFill>
          <a:ln/>
        </p:spPr>
      </p:sp>
      <p:sp>
        <p:nvSpPr>
          <p:cNvPr id="3" name="Text 1"/>
          <p:cNvSpPr/>
          <p:nvPr/>
        </p:nvSpPr>
        <p:spPr>
          <a:xfrm>
            <a:off x="713232" y="384048"/>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What Is a “Hash”, Exactly?</a:t>
            </a:r>
            <a:endParaRPr lang="en-US" sz="2600" dirty="0"/>
          </a:p>
        </p:txBody>
      </p:sp>
      <p:sp>
        <p:nvSpPr>
          <p:cNvPr id="4" name="Text 2"/>
          <p:cNvSpPr/>
          <p:nvPr/>
        </p:nvSpPr>
        <p:spPr>
          <a:xfrm>
            <a:off x="640080" y="1371600"/>
            <a:ext cx="10881360" cy="640080"/>
          </a:xfrm>
          <a:prstGeom prst="rect">
            <a:avLst/>
          </a:prstGeom>
          <a:noFill/>
          <a:ln/>
        </p:spPr>
        <p:txBody>
          <a:bodyPr wrap="square" rtlCol="0" anchor="ctr"/>
          <a:lstStyle/>
          <a:p>
            <a:pPr marL="0" indent="0">
              <a:lnSpc>
                <a:spcPct val="115000"/>
              </a:lnSpc>
              <a:buNone/>
            </a:pPr>
            <a:r>
              <a:rPr lang="en-US" sz="1450" dirty="0">
                <a:solidFill>
                  <a:srgbClr val="FFFFFF"/>
                </a:solidFill>
                <a:latin typeface="Calibri" pitchFamily="34" charset="0"/>
                <a:ea typeface="Calibri" pitchFamily="34" charset="-122"/>
                <a:cs typeface="Calibri" pitchFamily="34" charset="-120"/>
              </a:rPr>
              <a:t>The spectrogram gives us hundreds of loud “landmark” peaks. We don't hash them one at a time — we pair each peak with a nearby one that follows it in time.</a:t>
            </a:r>
            <a:endParaRPr lang="en-US" sz="1450" dirty="0"/>
          </a:p>
        </p:txBody>
      </p:sp>
      <p:sp>
        <p:nvSpPr>
          <p:cNvPr id="5" name="Shape 3"/>
          <p:cNvSpPr/>
          <p:nvPr/>
        </p:nvSpPr>
        <p:spPr>
          <a:xfrm>
            <a:off x="777240" y="2267712"/>
            <a:ext cx="4572000" cy="2377440"/>
          </a:xfrm>
          <a:prstGeom prst="rect">
            <a:avLst/>
          </a:prstGeom>
          <a:solidFill>
            <a:srgbClr val="1F1214"/>
          </a:solidFill>
          <a:ln w="12700">
            <a:solidFill>
              <a:srgbClr val="6E0E1B"/>
            </a:solidFill>
            <a:prstDash val="solid"/>
          </a:ln>
        </p:spPr>
      </p:sp>
      <p:sp>
        <p:nvSpPr>
          <p:cNvPr id="6" name="Text 4"/>
          <p:cNvSpPr/>
          <p:nvPr/>
        </p:nvSpPr>
        <p:spPr>
          <a:xfrm>
            <a:off x="777240" y="2240280"/>
            <a:ext cx="1463040" cy="274320"/>
          </a:xfrm>
          <a:prstGeom prst="rect">
            <a:avLst/>
          </a:prstGeom>
          <a:noFill/>
          <a:ln/>
        </p:spPr>
        <p:txBody>
          <a:bodyPr wrap="square" rtlCol="0" anchor="ctr"/>
          <a:lstStyle/>
          <a:p>
            <a:pPr marL="0" indent="0">
              <a:buNone/>
            </a:pPr>
            <a:r>
              <a:rPr lang="en-US" sz="900" dirty="0">
                <a:solidFill>
                  <a:srgbClr val="5C6169"/>
                </a:solidFill>
                <a:latin typeface="Calibri" pitchFamily="34" charset="0"/>
                <a:ea typeface="Calibri" pitchFamily="34" charset="-122"/>
                <a:cs typeface="Calibri" pitchFamily="34" charset="-120"/>
              </a:rPr>
              <a:t>frequency ↑</a:t>
            </a:r>
            <a:endParaRPr lang="en-US" sz="900" dirty="0"/>
          </a:p>
        </p:txBody>
      </p:sp>
      <p:sp>
        <p:nvSpPr>
          <p:cNvPr id="7" name="Text 5"/>
          <p:cNvSpPr/>
          <p:nvPr/>
        </p:nvSpPr>
        <p:spPr>
          <a:xfrm>
            <a:off x="4389120" y="4645152"/>
            <a:ext cx="1005840" cy="274320"/>
          </a:xfrm>
          <a:prstGeom prst="rect">
            <a:avLst/>
          </a:prstGeom>
          <a:noFill/>
          <a:ln/>
        </p:spPr>
        <p:txBody>
          <a:bodyPr wrap="square" rtlCol="0" anchor="ctr"/>
          <a:lstStyle/>
          <a:p>
            <a:pPr marL="0" indent="0">
              <a:buNone/>
            </a:pPr>
            <a:r>
              <a:rPr lang="en-US" sz="900" dirty="0">
                <a:solidFill>
                  <a:srgbClr val="5C6169"/>
                </a:solidFill>
                <a:latin typeface="Calibri" pitchFamily="34" charset="0"/>
                <a:ea typeface="Calibri" pitchFamily="34" charset="-122"/>
                <a:cs typeface="Calibri" pitchFamily="34" charset="-120"/>
              </a:rPr>
              <a:t>time →</a:t>
            </a:r>
            <a:endParaRPr lang="en-US" sz="900" dirty="0"/>
          </a:p>
        </p:txBody>
      </p:sp>
      <p:sp>
        <p:nvSpPr>
          <p:cNvPr id="8" name="Shape 6"/>
          <p:cNvSpPr/>
          <p:nvPr/>
        </p:nvSpPr>
        <p:spPr>
          <a:xfrm flipV="1">
            <a:off x="1828799" y="2907792"/>
            <a:ext cx="2093495" cy="1115568"/>
          </a:xfrm>
          <a:prstGeom prst="line">
            <a:avLst/>
          </a:prstGeom>
          <a:noFill/>
          <a:ln w="19050">
            <a:solidFill>
              <a:srgbClr val="E8112D"/>
            </a:solidFill>
            <a:prstDash val="dash"/>
          </a:ln>
        </p:spPr>
      </p:sp>
      <p:sp>
        <p:nvSpPr>
          <p:cNvPr id="9" name="Shape 7"/>
          <p:cNvSpPr/>
          <p:nvPr/>
        </p:nvSpPr>
        <p:spPr>
          <a:xfrm>
            <a:off x="1755648" y="3950208"/>
            <a:ext cx="146304" cy="146304"/>
          </a:xfrm>
          <a:prstGeom prst="ellipse">
            <a:avLst/>
          </a:prstGeom>
          <a:solidFill>
            <a:srgbClr val="FF4757"/>
          </a:solidFill>
          <a:ln/>
        </p:spPr>
      </p:sp>
      <p:sp>
        <p:nvSpPr>
          <p:cNvPr id="10" name="Shape 8"/>
          <p:cNvSpPr/>
          <p:nvPr/>
        </p:nvSpPr>
        <p:spPr>
          <a:xfrm>
            <a:off x="3858768" y="2852928"/>
            <a:ext cx="146304" cy="146304"/>
          </a:xfrm>
          <a:prstGeom prst="ellipse">
            <a:avLst/>
          </a:prstGeom>
          <a:solidFill>
            <a:srgbClr val="FF4757"/>
          </a:solidFill>
          <a:ln/>
        </p:spPr>
      </p:sp>
      <p:sp>
        <p:nvSpPr>
          <p:cNvPr id="11" name="Text 9"/>
          <p:cNvSpPr/>
          <p:nvPr/>
        </p:nvSpPr>
        <p:spPr>
          <a:xfrm>
            <a:off x="1371600" y="4114800"/>
            <a:ext cx="1280160" cy="274320"/>
          </a:xfrm>
          <a:prstGeom prst="rect">
            <a:avLst/>
          </a:prstGeom>
          <a:noFill/>
          <a:ln/>
        </p:spPr>
        <p:txBody>
          <a:bodyPr wrap="square"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f₁ (anchor)</a:t>
            </a:r>
            <a:endParaRPr lang="en-US" sz="1100" dirty="0"/>
          </a:p>
        </p:txBody>
      </p:sp>
      <p:sp>
        <p:nvSpPr>
          <p:cNvPr id="12" name="Text 10"/>
          <p:cNvSpPr/>
          <p:nvPr/>
        </p:nvSpPr>
        <p:spPr>
          <a:xfrm>
            <a:off x="3657600" y="2560320"/>
            <a:ext cx="1280160" cy="274320"/>
          </a:xfrm>
          <a:prstGeom prst="rect">
            <a:avLst/>
          </a:prstGeom>
          <a:noFill/>
          <a:ln/>
        </p:spPr>
        <p:txBody>
          <a:bodyPr wrap="square"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f₂ (target)</a:t>
            </a:r>
            <a:endParaRPr lang="en-US" sz="1100" dirty="0"/>
          </a:p>
        </p:txBody>
      </p:sp>
      <p:sp>
        <p:nvSpPr>
          <p:cNvPr id="13" name="Text 11"/>
          <p:cNvSpPr/>
          <p:nvPr/>
        </p:nvSpPr>
        <p:spPr>
          <a:xfrm>
            <a:off x="2743200" y="3429000"/>
            <a:ext cx="365760" cy="274320"/>
          </a:xfrm>
          <a:prstGeom prst="rect">
            <a:avLst/>
          </a:prstGeom>
          <a:noFill/>
          <a:ln/>
        </p:spPr>
        <p:txBody>
          <a:bodyPr wrap="square" rtlCol="0" anchor="ctr"/>
          <a:lstStyle/>
          <a:p>
            <a:pPr marL="0" indent="0">
              <a:buNone/>
            </a:pPr>
            <a:r>
              <a:rPr lang="en-US" sz="1200" b="1" dirty="0">
                <a:solidFill>
                  <a:srgbClr val="FF4757"/>
                </a:solidFill>
                <a:latin typeface="Consolas" pitchFamily="34" charset="0"/>
                <a:ea typeface="Consolas" pitchFamily="34" charset="-122"/>
                <a:cs typeface="Consolas" pitchFamily="34" charset="-120"/>
              </a:rPr>
              <a:t>Δt</a:t>
            </a:r>
            <a:endParaRPr lang="en-US" sz="1200" dirty="0"/>
          </a:p>
        </p:txBody>
      </p:sp>
      <p:sp>
        <p:nvSpPr>
          <p:cNvPr id="14" name="Shape 12"/>
          <p:cNvSpPr/>
          <p:nvPr/>
        </p:nvSpPr>
        <p:spPr>
          <a:xfrm>
            <a:off x="5532120" y="3474720"/>
            <a:ext cx="548640" cy="0"/>
          </a:xfrm>
          <a:prstGeom prst="line">
            <a:avLst/>
          </a:prstGeom>
          <a:noFill/>
          <a:ln w="25400">
            <a:solidFill>
              <a:srgbClr val="E8112D"/>
            </a:solidFill>
            <a:prstDash val="solid"/>
            <a:tailEnd type="triangle"/>
          </a:ln>
        </p:spPr>
      </p:sp>
      <p:sp>
        <p:nvSpPr>
          <p:cNvPr id="15" name="Shape 13"/>
          <p:cNvSpPr/>
          <p:nvPr/>
        </p:nvSpPr>
        <p:spPr>
          <a:xfrm>
            <a:off x="6172200" y="2743200"/>
            <a:ext cx="4617720" cy="1463040"/>
          </a:xfrm>
          <a:prstGeom prst="rect">
            <a:avLst/>
          </a:prstGeom>
          <a:solidFill>
            <a:srgbClr val="6E0E1B"/>
          </a:solidFill>
          <a:ln/>
        </p:spPr>
      </p:sp>
      <p:sp>
        <p:nvSpPr>
          <p:cNvPr id="16" name="Text 14"/>
          <p:cNvSpPr/>
          <p:nvPr/>
        </p:nvSpPr>
        <p:spPr>
          <a:xfrm>
            <a:off x="6400800" y="2880360"/>
            <a:ext cx="4206240" cy="411480"/>
          </a:xfrm>
          <a:prstGeom prst="rect">
            <a:avLst/>
          </a:prstGeom>
          <a:noFill/>
          <a:ln/>
        </p:spPr>
        <p:txBody>
          <a:bodyPr wrap="square" rtlCol="0" anchor="ctr"/>
          <a:lstStyle/>
          <a:p>
            <a:pPr marL="0" indent="0">
              <a:buNone/>
            </a:pPr>
            <a:r>
              <a:rPr lang="en-US" sz="1700" b="1" dirty="0">
                <a:solidFill>
                  <a:srgbClr val="9AA0A8"/>
                </a:solidFill>
                <a:latin typeface="Consolas" pitchFamily="34" charset="0"/>
                <a:ea typeface="Consolas" pitchFamily="34" charset="-122"/>
                <a:cs typeface="Consolas" pitchFamily="34" charset="-120"/>
              </a:rPr>
              <a:t>H(f₁, f₂, Δt)</a:t>
            </a:r>
            <a:endParaRPr lang="en-US" sz="1700" dirty="0"/>
          </a:p>
        </p:txBody>
      </p:sp>
      <p:sp>
        <p:nvSpPr>
          <p:cNvPr id="17" name="Text 15"/>
          <p:cNvSpPr/>
          <p:nvPr/>
        </p:nvSpPr>
        <p:spPr>
          <a:xfrm>
            <a:off x="6400800" y="3291840"/>
            <a:ext cx="4206240" cy="457200"/>
          </a:xfrm>
          <a:prstGeom prst="rect">
            <a:avLst/>
          </a:prstGeom>
          <a:noFill/>
          <a:ln/>
        </p:spPr>
        <p:txBody>
          <a:bodyPr wrap="square" rtlCol="0" anchor="ctr"/>
          <a:lstStyle/>
          <a:p>
            <a:pPr marL="0" indent="0">
              <a:buNone/>
            </a:pPr>
            <a:r>
              <a:rPr lang="en-US" sz="2000" b="1" dirty="0">
                <a:solidFill>
                  <a:srgbClr val="FFFFFF"/>
                </a:solidFill>
                <a:latin typeface="Consolas" pitchFamily="34" charset="0"/>
                <a:ea typeface="Consolas" pitchFamily="34" charset="-122"/>
                <a:cs typeface="Consolas" pitchFamily="34" charset="-120"/>
              </a:rPr>
              <a:t>= f₁×10⁶ + f₂×10³ + Δt</a:t>
            </a:r>
            <a:endParaRPr lang="en-US" sz="2000" dirty="0"/>
          </a:p>
        </p:txBody>
      </p:sp>
      <p:sp>
        <p:nvSpPr>
          <p:cNvPr id="18" name="Text 16"/>
          <p:cNvSpPr/>
          <p:nvPr/>
        </p:nvSpPr>
        <p:spPr>
          <a:xfrm>
            <a:off x="6400800" y="3794760"/>
            <a:ext cx="4206240" cy="320040"/>
          </a:xfrm>
          <a:prstGeom prst="rect">
            <a:avLst/>
          </a:prstGeom>
          <a:noFill/>
          <a:ln/>
        </p:spPr>
        <p:txBody>
          <a:bodyPr wrap="square" rtlCol="0" anchor="ctr"/>
          <a:lstStyle/>
          <a:p>
            <a:pPr marL="0" indent="0">
              <a:buNone/>
            </a:pPr>
            <a:r>
              <a:rPr lang="en-US" sz="1050" i="1" dirty="0">
                <a:solidFill>
                  <a:srgbClr val="9AA0A8"/>
                </a:solidFill>
                <a:latin typeface="Calibri" pitchFamily="34" charset="0"/>
                <a:ea typeface="Calibri" pitchFamily="34" charset="-122"/>
                <a:cs typeface="Calibri" pitchFamily="34" charset="-120"/>
              </a:rPr>
              <a:t>one 64-bit number, unique to this exact peak pair</a:t>
            </a:r>
            <a:endParaRPr lang="en-US" sz="1050" dirty="0"/>
          </a:p>
        </p:txBody>
      </p:sp>
      <p:sp>
        <p:nvSpPr>
          <p:cNvPr id="19" name="Text 17"/>
          <p:cNvSpPr/>
          <p:nvPr/>
        </p:nvSpPr>
        <p:spPr>
          <a:xfrm>
            <a:off x="640080" y="5029200"/>
            <a:ext cx="10881360" cy="822960"/>
          </a:xfrm>
          <a:prstGeom prst="rect">
            <a:avLst/>
          </a:prstGeom>
          <a:noFill/>
          <a:ln/>
        </p:spPr>
        <p:txBody>
          <a:bodyPr wrap="square" rtlCol="0" anchor="ctr"/>
          <a:lstStyle/>
          <a:p>
            <a:pPr marL="0" indent="0">
              <a:lnSpc>
                <a:spcPct val="115000"/>
              </a:lnSpc>
              <a:buNone/>
            </a:pPr>
            <a:r>
              <a:rPr lang="en-US" sz="1300" dirty="0">
                <a:solidFill>
                  <a:srgbClr val="9AA0A8"/>
                </a:solidFill>
                <a:latin typeface="Calibri" pitchFamily="34" charset="0"/>
                <a:ea typeface="Calibri" pitchFamily="34" charset="-122"/>
                <a:cs typeface="Calibri" pitchFamily="34" charset="-120"/>
              </a:rPr>
              <a:t>Why pairs, not single peaks? Two unrelated songs sharing one frequency by coincidence is common. Two songs sharing an entire frequency pair and exact timing gap is extremely unlikely — that's what makes each hash specific.</a:t>
            </a:r>
            <a:endParaRPr lang="en-US" sz="1300" dirty="0"/>
          </a:p>
        </p:txBody>
      </p:sp>
      <p:sp>
        <p:nvSpPr>
          <p:cNvPr id="20" name="Text 18"/>
          <p:cNvSpPr/>
          <p:nvPr/>
        </p:nvSpPr>
        <p:spPr>
          <a:xfrm>
            <a:off x="502920" y="6510528"/>
            <a:ext cx="5486400" cy="274320"/>
          </a:xfrm>
          <a:prstGeom prst="rect">
            <a:avLst/>
          </a:prstGeom>
          <a:noFill/>
          <a:ln/>
        </p:spPr>
        <p:txBody>
          <a:bodyPr wrap="square" rtlCol="0" anchor="ctr"/>
          <a:lstStyle/>
          <a:p>
            <a:pPr marL="0" indent="0">
              <a:buNone/>
            </a:pPr>
            <a:r>
              <a:rPr lang="en-US" sz="900" dirty="0">
                <a:solidFill>
                  <a:srgbClr val="5C6169"/>
                </a:solidFill>
                <a:latin typeface="Calibri" pitchFamily="34" charset="0"/>
                <a:ea typeface="Calibri" pitchFamily="34" charset="-122"/>
                <a:cs typeface="Calibri" pitchFamily="34" charset="-120"/>
              </a:rPr>
              <a:t>Audio Pattern Recognition System</a:t>
            </a:r>
            <a:endParaRPr lang="en-US" sz="900" dirty="0"/>
          </a:p>
        </p:txBody>
      </p:sp>
      <p:sp>
        <p:nvSpPr>
          <p:cNvPr id="21" name="Text 19"/>
          <p:cNvSpPr/>
          <p:nvPr/>
        </p:nvSpPr>
        <p:spPr>
          <a:xfrm>
            <a:off x="11338560" y="6510528"/>
            <a:ext cx="365760" cy="274320"/>
          </a:xfrm>
          <a:prstGeom prst="rect">
            <a:avLst/>
          </a:prstGeom>
          <a:noFill/>
          <a:ln/>
        </p:spPr>
        <p:txBody>
          <a:bodyPr wrap="square" rtlCol="0" anchor="ctr"/>
          <a:lstStyle/>
          <a:p>
            <a:pPr marL="0" indent="0" algn="r">
              <a:buNone/>
            </a:pPr>
            <a:r>
              <a:rPr lang="en-US" sz="900" dirty="0">
                <a:solidFill>
                  <a:srgbClr val="5C616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A0C"/>
        </a:solidFill>
        <a:effectLst/>
      </p:bgPr>
    </p:bg>
    <p:spTree>
      <p:nvGrpSpPr>
        <p:cNvPr id="1" name=""/>
        <p:cNvGrpSpPr/>
        <p:nvPr/>
      </p:nvGrpSpPr>
      <p:grpSpPr>
        <a:xfrm>
          <a:off x="0" y="0"/>
          <a:ext cx="0" cy="0"/>
          <a:chOff x="0" y="0"/>
          <a:chExt cx="0" cy="0"/>
        </a:xfrm>
      </p:grpSpPr>
      <p:sp>
        <p:nvSpPr>
          <p:cNvPr id="2" name="Shape 0"/>
          <p:cNvSpPr/>
          <p:nvPr/>
        </p:nvSpPr>
        <p:spPr>
          <a:xfrm>
            <a:off x="502920" y="502920"/>
            <a:ext cx="82296" cy="457200"/>
          </a:xfrm>
          <a:prstGeom prst="rect">
            <a:avLst/>
          </a:prstGeom>
          <a:solidFill>
            <a:srgbClr val="E8112D"/>
          </a:solidFill>
          <a:ln/>
        </p:spPr>
      </p:sp>
      <p:sp>
        <p:nvSpPr>
          <p:cNvPr id="3" name="Text 1"/>
          <p:cNvSpPr/>
          <p:nvPr/>
        </p:nvSpPr>
        <p:spPr>
          <a:xfrm>
            <a:off x="713232" y="384048"/>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cs typeface="Arial" pitchFamily="34" charset="-120"/>
              </a:rPr>
              <a:t>Console Output of our database construction process</a:t>
            </a:r>
            <a:endParaRPr lang="en-US" sz="2600" dirty="0"/>
          </a:p>
        </p:txBody>
      </p:sp>
      <p:sp>
        <p:nvSpPr>
          <p:cNvPr id="4" name="Text 2"/>
          <p:cNvSpPr/>
          <p:nvPr/>
        </p:nvSpPr>
        <p:spPr>
          <a:xfrm>
            <a:off x="640080" y="1371600"/>
            <a:ext cx="11064240" cy="806116"/>
          </a:xfrm>
          <a:prstGeom prst="rect">
            <a:avLst/>
          </a:prstGeom>
          <a:noFill/>
          <a:ln/>
        </p:spPr>
        <p:txBody>
          <a:bodyPr wrap="square" rtlCol="0" anchor="ctr"/>
          <a:lstStyle/>
          <a:p>
            <a:pPr marL="0" indent="0">
              <a:lnSpc>
                <a:spcPct val="115000"/>
              </a:lnSpc>
              <a:buNone/>
            </a:pPr>
            <a:r>
              <a:rPr lang="en-US" sz="1600" dirty="0">
                <a:solidFill>
                  <a:srgbClr val="FFFFFF"/>
                </a:solidFill>
                <a:latin typeface="Calibri" pitchFamily="34" charset="0"/>
                <a:ea typeface="Calibri" pitchFamily="34" charset="-122"/>
                <a:cs typeface="Calibri" pitchFamily="34" charset="-120"/>
              </a:rPr>
              <a:t>Showing the per song peak count &amp; total unique hash count :</a:t>
            </a:r>
            <a:endParaRPr lang="en-US" sz="1600" dirty="0"/>
          </a:p>
        </p:txBody>
      </p:sp>
      <p:sp>
        <p:nvSpPr>
          <p:cNvPr id="7" name="Text 5"/>
          <p:cNvSpPr/>
          <p:nvPr/>
        </p:nvSpPr>
        <p:spPr>
          <a:xfrm>
            <a:off x="4389120" y="4645152"/>
            <a:ext cx="1005840" cy="274320"/>
          </a:xfrm>
          <a:prstGeom prst="rect">
            <a:avLst/>
          </a:prstGeom>
          <a:noFill/>
          <a:ln/>
        </p:spPr>
        <p:txBody>
          <a:bodyPr wrap="square" rtlCol="0" anchor="ctr"/>
          <a:lstStyle/>
          <a:p>
            <a:pPr marL="0" indent="0">
              <a:buNone/>
            </a:pPr>
            <a:r>
              <a:rPr lang="en-US" sz="900" dirty="0">
                <a:solidFill>
                  <a:srgbClr val="5C6169"/>
                </a:solidFill>
                <a:latin typeface="Calibri" pitchFamily="34" charset="0"/>
                <a:ea typeface="Calibri" pitchFamily="34" charset="-122"/>
                <a:cs typeface="Calibri" pitchFamily="34" charset="-120"/>
              </a:rPr>
              <a:t>→</a:t>
            </a:r>
            <a:endParaRPr lang="en-US" sz="900" dirty="0"/>
          </a:p>
        </p:txBody>
      </p:sp>
      <p:sp>
        <p:nvSpPr>
          <p:cNvPr id="13" name="Text 11"/>
          <p:cNvSpPr/>
          <p:nvPr/>
        </p:nvSpPr>
        <p:spPr>
          <a:xfrm>
            <a:off x="2743200" y="3429000"/>
            <a:ext cx="365760" cy="274320"/>
          </a:xfrm>
          <a:prstGeom prst="rect">
            <a:avLst/>
          </a:prstGeom>
          <a:noFill/>
          <a:ln/>
        </p:spPr>
        <p:txBody>
          <a:bodyPr wrap="square" rtlCol="0" anchor="ctr"/>
          <a:lstStyle/>
          <a:p>
            <a:pPr marL="0" indent="0">
              <a:buNone/>
            </a:pPr>
            <a:endParaRPr lang="en-US" sz="1200" dirty="0"/>
          </a:p>
        </p:txBody>
      </p:sp>
      <p:sp>
        <p:nvSpPr>
          <p:cNvPr id="16" name="Text 14"/>
          <p:cNvSpPr/>
          <p:nvPr/>
        </p:nvSpPr>
        <p:spPr>
          <a:xfrm>
            <a:off x="6400800" y="2880360"/>
            <a:ext cx="4206240" cy="411480"/>
          </a:xfrm>
          <a:prstGeom prst="rect">
            <a:avLst/>
          </a:prstGeom>
          <a:noFill/>
          <a:ln/>
        </p:spPr>
        <p:txBody>
          <a:bodyPr wrap="square" rtlCol="0" anchor="ctr"/>
          <a:lstStyle/>
          <a:p>
            <a:pPr marL="0" indent="0">
              <a:buNone/>
            </a:pPr>
            <a:r>
              <a:rPr lang="en-US" sz="1700" b="1" dirty="0">
                <a:solidFill>
                  <a:srgbClr val="9AA0A8"/>
                </a:solidFill>
                <a:latin typeface="Consolas" pitchFamily="34" charset="0"/>
                <a:ea typeface="Consolas" pitchFamily="34" charset="-122"/>
                <a:cs typeface="Consolas" pitchFamily="34" charset="-120"/>
              </a:rPr>
              <a:t> </a:t>
            </a:r>
            <a:endParaRPr lang="en-US" sz="1700" dirty="0"/>
          </a:p>
        </p:txBody>
      </p:sp>
      <p:sp>
        <p:nvSpPr>
          <p:cNvPr id="18" name="Text 16"/>
          <p:cNvSpPr/>
          <p:nvPr/>
        </p:nvSpPr>
        <p:spPr>
          <a:xfrm>
            <a:off x="6400800" y="3794760"/>
            <a:ext cx="4206240" cy="320040"/>
          </a:xfrm>
          <a:prstGeom prst="rect">
            <a:avLst/>
          </a:prstGeom>
          <a:noFill/>
          <a:ln/>
        </p:spPr>
        <p:txBody>
          <a:bodyPr wrap="square" rtlCol="0" anchor="ctr"/>
          <a:lstStyle/>
          <a:p>
            <a:pPr marL="0" indent="0">
              <a:buNone/>
            </a:pPr>
            <a:endParaRPr lang="en-US" sz="1050" dirty="0"/>
          </a:p>
        </p:txBody>
      </p:sp>
      <p:sp>
        <p:nvSpPr>
          <p:cNvPr id="20" name="Text 18"/>
          <p:cNvSpPr/>
          <p:nvPr/>
        </p:nvSpPr>
        <p:spPr>
          <a:xfrm>
            <a:off x="502920" y="6510528"/>
            <a:ext cx="5486400" cy="274320"/>
          </a:xfrm>
          <a:prstGeom prst="rect">
            <a:avLst/>
          </a:prstGeom>
          <a:noFill/>
          <a:ln/>
        </p:spPr>
        <p:txBody>
          <a:bodyPr wrap="square" rtlCol="0" anchor="ctr"/>
          <a:lstStyle/>
          <a:p>
            <a:pPr marL="0" indent="0">
              <a:buNone/>
            </a:pPr>
            <a:r>
              <a:rPr lang="en-US" sz="900" dirty="0">
                <a:solidFill>
                  <a:srgbClr val="5C6169"/>
                </a:solidFill>
                <a:latin typeface="Calibri" pitchFamily="34" charset="0"/>
                <a:ea typeface="Calibri" pitchFamily="34" charset="-122"/>
                <a:cs typeface="Calibri" pitchFamily="34" charset="-120"/>
              </a:rPr>
              <a:t>Audio Pattern Recognition System</a:t>
            </a:r>
            <a:endParaRPr lang="en-US" sz="900" dirty="0"/>
          </a:p>
        </p:txBody>
      </p:sp>
      <p:sp>
        <p:nvSpPr>
          <p:cNvPr id="21" name="Text 19"/>
          <p:cNvSpPr/>
          <p:nvPr/>
        </p:nvSpPr>
        <p:spPr>
          <a:xfrm>
            <a:off x="11338560" y="6510528"/>
            <a:ext cx="365760" cy="274320"/>
          </a:xfrm>
          <a:prstGeom prst="rect">
            <a:avLst/>
          </a:prstGeom>
          <a:noFill/>
          <a:ln/>
        </p:spPr>
        <p:txBody>
          <a:bodyPr wrap="square" rtlCol="0" anchor="ctr"/>
          <a:lstStyle/>
          <a:p>
            <a:pPr marL="0" indent="0" algn="r">
              <a:buNone/>
            </a:pPr>
            <a:r>
              <a:rPr lang="en-US" sz="900" dirty="0">
                <a:solidFill>
                  <a:srgbClr val="5C6169"/>
                </a:solidFill>
                <a:latin typeface="Calibri" pitchFamily="34" charset="0"/>
                <a:ea typeface="Calibri" pitchFamily="34" charset="-122"/>
                <a:cs typeface="Calibri" pitchFamily="34" charset="-120"/>
              </a:rPr>
              <a:t>5</a:t>
            </a:r>
            <a:endParaRPr lang="en-US" sz="900" dirty="0"/>
          </a:p>
        </p:txBody>
      </p:sp>
      <p:pic>
        <p:nvPicPr>
          <p:cNvPr id="23" name="Picture 22" descr="A screenshot of a computer&#10;&#10;Description automatically generated">
            <a:extLst>
              <a:ext uri="{FF2B5EF4-FFF2-40B4-BE49-F238E27FC236}">
                <a16:creationId xmlns:a16="http://schemas.microsoft.com/office/drawing/2014/main" id="{A450CC94-EDDC-4A32-BBD2-CD570C431D2E}"/>
              </a:ext>
            </a:extLst>
          </p:cNvPr>
          <p:cNvPicPr>
            <a:picLocks noChangeAspect="1"/>
          </p:cNvPicPr>
          <p:nvPr/>
        </p:nvPicPr>
        <p:blipFill>
          <a:blip r:embed="rId3"/>
          <a:stretch>
            <a:fillRect/>
          </a:stretch>
        </p:blipFill>
        <p:spPr>
          <a:xfrm>
            <a:off x="1159897" y="2592940"/>
            <a:ext cx="9658846" cy="2838596"/>
          </a:xfrm>
          <a:prstGeom prst="rect">
            <a:avLst/>
          </a:prstGeom>
        </p:spPr>
      </p:pic>
    </p:spTree>
    <p:extLst>
      <p:ext uri="{BB962C8B-B14F-4D97-AF65-F5344CB8AC3E}">
        <p14:creationId xmlns:p14="http://schemas.microsoft.com/office/powerpoint/2010/main" val="1525478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A0A0C"/>
        </a:solidFill>
        <a:effectLst/>
      </p:bgPr>
    </p:bg>
    <p:spTree>
      <p:nvGrpSpPr>
        <p:cNvPr id="1" name=""/>
        <p:cNvGrpSpPr/>
        <p:nvPr/>
      </p:nvGrpSpPr>
      <p:grpSpPr>
        <a:xfrm>
          <a:off x="0" y="0"/>
          <a:ext cx="0" cy="0"/>
          <a:chOff x="0" y="0"/>
          <a:chExt cx="0" cy="0"/>
        </a:xfrm>
      </p:grpSpPr>
      <p:sp>
        <p:nvSpPr>
          <p:cNvPr id="2" name="Shape 0"/>
          <p:cNvSpPr/>
          <p:nvPr/>
        </p:nvSpPr>
        <p:spPr>
          <a:xfrm>
            <a:off x="502920" y="502920"/>
            <a:ext cx="82296" cy="457200"/>
          </a:xfrm>
          <a:prstGeom prst="rect">
            <a:avLst/>
          </a:prstGeom>
          <a:solidFill>
            <a:srgbClr val="E8112D"/>
          </a:solidFill>
          <a:ln/>
        </p:spPr>
      </p:sp>
      <p:sp>
        <p:nvSpPr>
          <p:cNvPr id="3" name="Text 1"/>
          <p:cNvSpPr/>
          <p:nvPr/>
        </p:nvSpPr>
        <p:spPr>
          <a:xfrm>
            <a:off x="713232" y="384048"/>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How Matching Actually Works</a:t>
            </a:r>
            <a:endParaRPr lang="en-US" sz="2600" dirty="0"/>
          </a:p>
        </p:txBody>
      </p:sp>
      <p:sp>
        <p:nvSpPr>
          <p:cNvPr id="4" name="Text 2"/>
          <p:cNvSpPr/>
          <p:nvPr/>
        </p:nvSpPr>
        <p:spPr>
          <a:xfrm>
            <a:off x="713232" y="868680"/>
            <a:ext cx="10515600" cy="320040"/>
          </a:xfrm>
          <a:prstGeom prst="rect">
            <a:avLst/>
          </a:prstGeom>
          <a:noFill/>
          <a:ln/>
        </p:spPr>
        <p:txBody>
          <a:bodyPr wrap="square" rtlCol="0" anchor="ctr"/>
          <a:lstStyle/>
          <a:p>
            <a:pPr marL="0" indent="0">
              <a:buNone/>
            </a:pPr>
            <a:r>
              <a:rPr lang="en-US" sz="1300" i="1" dirty="0">
                <a:solidFill>
                  <a:srgbClr val="9AA0A8"/>
                </a:solidFill>
                <a:latin typeface="Calibri" pitchFamily="34" charset="0"/>
                <a:ea typeface="Calibri" pitchFamily="34" charset="-122"/>
                <a:cs typeface="Calibri" pitchFamily="34" charset="-120"/>
              </a:rPr>
              <a:t>The core of the whole system</a:t>
            </a:r>
            <a:endParaRPr lang="en-US" sz="1300" dirty="0"/>
          </a:p>
        </p:txBody>
      </p:sp>
      <p:sp>
        <p:nvSpPr>
          <p:cNvPr id="5" name="Text 3"/>
          <p:cNvSpPr/>
          <p:nvPr/>
        </p:nvSpPr>
        <p:spPr>
          <a:xfrm>
            <a:off x="640080" y="1371600"/>
            <a:ext cx="10881360" cy="685800"/>
          </a:xfrm>
          <a:prstGeom prst="rect">
            <a:avLst/>
          </a:prstGeom>
          <a:noFill/>
          <a:ln/>
        </p:spPr>
        <p:txBody>
          <a:bodyPr wrap="square" rtlCol="0" anchor="ctr"/>
          <a:lstStyle/>
          <a:p>
            <a:pPr marL="0" indent="0">
              <a:lnSpc>
                <a:spcPct val="115000"/>
              </a:lnSpc>
              <a:buNone/>
            </a:pPr>
            <a:r>
              <a:rPr lang="en-US" sz="1400" dirty="0">
                <a:solidFill>
                  <a:srgbClr val="FFFFFF"/>
                </a:solidFill>
                <a:latin typeface="Calibri" pitchFamily="34" charset="0"/>
                <a:ea typeface="Calibri" pitchFamily="34" charset="-122"/>
                <a:cs typeface="Calibri" pitchFamily="34" charset="-120"/>
              </a:rPr>
              <a:t>Every hash from the live recording is looked up in the database. A random shared hash isn't proof of a match — so for each hit, we calculate the time offset between the live peak and the database peak.</a:t>
            </a:r>
            <a:endParaRPr lang="en-US" sz="1400" dirty="0"/>
          </a:p>
        </p:txBody>
      </p:sp>
      <p:sp>
        <p:nvSpPr>
          <p:cNvPr id="6" name="Shape 4"/>
          <p:cNvSpPr/>
          <p:nvPr/>
        </p:nvSpPr>
        <p:spPr>
          <a:xfrm>
            <a:off x="822960" y="4572000"/>
            <a:ext cx="10332720" cy="0"/>
          </a:xfrm>
          <a:prstGeom prst="line">
            <a:avLst/>
          </a:prstGeom>
          <a:noFill/>
          <a:ln w="12700">
            <a:solidFill>
              <a:srgbClr val="5C6169"/>
            </a:solidFill>
            <a:prstDash val="solid"/>
          </a:ln>
        </p:spPr>
      </p:sp>
      <p:sp>
        <p:nvSpPr>
          <p:cNvPr id="7" name="Shape 5"/>
          <p:cNvSpPr/>
          <p:nvPr/>
        </p:nvSpPr>
        <p:spPr>
          <a:xfrm>
            <a:off x="822960" y="4251960"/>
            <a:ext cx="594360" cy="320040"/>
          </a:xfrm>
          <a:prstGeom prst="rect">
            <a:avLst/>
          </a:prstGeom>
          <a:solidFill>
            <a:srgbClr val="3A2226"/>
          </a:solidFill>
          <a:ln/>
        </p:spPr>
      </p:sp>
      <p:sp>
        <p:nvSpPr>
          <p:cNvPr id="8" name="Shape 6"/>
          <p:cNvSpPr/>
          <p:nvPr/>
        </p:nvSpPr>
        <p:spPr>
          <a:xfrm>
            <a:off x="1708265" y="4069080"/>
            <a:ext cx="594360" cy="502920"/>
          </a:xfrm>
          <a:prstGeom prst="rect">
            <a:avLst/>
          </a:prstGeom>
          <a:solidFill>
            <a:srgbClr val="3A2226"/>
          </a:solidFill>
          <a:ln/>
        </p:spPr>
      </p:sp>
      <p:sp>
        <p:nvSpPr>
          <p:cNvPr id="9" name="Shape 7"/>
          <p:cNvSpPr/>
          <p:nvPr/>
        </p:nvSpPr>
        <p:spPr>
          <a:xfrm>
            <a:off x="2593571" y="4343400"/>
            <a:ext cx="594360" cy="228600"/>
          </a:xfrm>
          <a:prstGeom prst="rect">
            <a:avLst/>
          </a:prstGeom>
          <a:solidFill>
            <a:srgbClr val="3A2226"/>
          </a:solidFill>
          <a:ln/>
        </p:spPr>
      </p:sp>
      <p:sp>
        <p:nvSpPr>
          <p:cNvPr id="10" name="Shape 8"/>
          <p:cNvSpPr/>
          <p:nvPr/>
        </p:nvSpPr>
        <p:spPr>
          <a:xfrm>
            <a:off x="3478876" y="3931920"/>
            <a:ext cx="594360" cy="640080"/>
          </a:xfrm>
          <a:prstGeom prst="rect">
            <a:avLst/>
          </a:prstGeom>
          <a:solidFill>
            <a:srgbClr val="3A2226"/>
          </a:solidFill>
          <a:ln/>
        </p:spPr>
      </p:sp>
      <p:sp>
        <p:nvSpPr>
          <p:cNvPr id="11" name="Shape 9"/>
          <p:cNvSpPr/>
          <p:nvPr/>
        </p:nvSpPr>
        <p:spPr>
          <a:xfrm>
            <a:off x="4364182" y="4206240"/>
            <a:ext cx="594360" cy="365760"/>
          </a:xfrm>
          <a:prstGeom prst="rect">
            <a:avLst/>
          </a:prstGeom>
          <a:solidFill>
            <a:srgbClr val="3A2226"/>
          </a:solidFill>
          <a:ln/>
        </p:spPr>
      </p:sp>
      <p:sp>
        <p:nvSpPr>
          <p:cNvPr id="12" name="Shape 10"/>
          <p:cNvSpPr/>
          <p:nvPr/>
        </p:nvSpPr>
        <p:spPr>
          <a:xfrm>
            <a:off x="5249487" y="2423160"/>
            <a:ext cx="594360" cy="2148840"/>
          </a:xfrm>
          <a:prstGeom prst="rect">
            <a:avLst/>
          </a:prstGeom>
          <a:solidFill>
            <a:srgbClr val="FF4757"/>
          </a:solidFill>
          <a:ln/>
        </p:spPr>
      </p:sp>
      <p:sp>
        <p:nvSpPr>
          <p:cNvPr id="13" name="Shape 11"/>
          <p:cNvSpPr/>
          <p:nvPr/>
        </p:nvSpPr>
        <p:spPr>
          <a:xfrm>
            <a:off x="6134793" y="4297680"/>
            <a:ext cx="594360" cy="274320"/>
          </a:xfrm>
          <a:prstGeom prst="rect">
            <a:avLst/>
          </a:prstGeom>
          <a:solidFill>
            <a:srgbClr val="3A2226"/>
          </a:solidFill>
          <a:ln/>
        </p:spPr>
      </p:sp>
      <p:sp>
        <p:nvSpPr>
          <p:cNvPr id="14" name="Shape 12"/>
          <p:cNvSpPr/>
          <p:nvPr/>
        </p:nvSpPr>
        <p:spPr>
          <a:xfrm>
            <a:off x="7020098" y="4023360"/>
            <a:ext cx="594360" cy="548640"/>
          </a:xfrm>
          <a:prstGeom prst="rect">
            <a:avLst/>
          </a:prstGeom>
          <a:solidFill>
            <a:srgbClr val="3A2226"/>
          </a:solidFill>
          <a:ln/>
        </p:spPr>
      </p:sp>
      <p:sp>
        <p:nvSpPr>
          <p:cNvPr id="15" name="Shape 13"/>
          <p:cNvSpPr/>
          <p:nvPr/>
        </p:nvSpPr>
        <p:spPr>
          <a:xfrm>
            <a:off x="7905404" y="4160520"/>
            <a:ext cx="594360" cy="411480"/>
          </a:xfrm>
          <a:prstGeom prst="rect">
            <a:avLst/>
          </a:prstGeom>
          <a:solidFill>
            <a:srgbClr val="3A2226"/>
          </a:solidFill>
          <a:ln/>
        </p:spPr>
      </p:sp>
      <p:sp>
        <p:nvSpPr>
          <p:cNvPr id="16" name="Shape 14"/>
          <p:cNvSpPr/>
          <p:nvPr/>
        </p:nvSpPr>
        <p:spPr>
          <a:xfrm>
            <a:off x="8790709" y="4343400"/>
            <a:ext cx="594360" cy="228600"/>
          </a:xfrm>
          <a:prstGeom prst="rect">
            <a:avLst/>
          </a:prstGeom>
          <a:solidFill>
            <a:srgbClr val="3A2226"/>
          </a:solidFill>
          <a:ln/>
        </p:spPr>
      </p:sp>
      <p:sp>
        <p:nvSpPr>
          <p:cNvPr id="17" name="Shape 15"/>
          <p:cNvSpPr/>
          <p:nvPr/>
        </p:nvSpPr>
        <p:spPr>
          <a:xfrm>
            <a:off x="9676015" y="4114800"/>
            <a:ext cx="594360" cy="457200"/>
          </a:xfrm>
          <a:prstGeom prst="rect">
            <a:avLst/>
          </a:prstGeom>
          <a:solidFill>
            <a:srgbClr val="3A2226"/>
          </a:solidFill>
          <a:ln/>
        </p:spPr>
      </p:sp>
      <p:sp>
        <p:nvSpPr>
          <p:cNvPr id="18" name="Shape 16"/>
          <p:cNvSpPr/>
          <p:nvPr/>
        </p:nvSpPr>
        <p:spPr>
          <a:xfrm>
            <a:off x="10561320" y="4251960"/>
            <a:ext cx="594360" cy="320040"/>
          </a:xfrm>
          <a:prstGeom prst="rect">
            <a:avLst/>
          </a:prstGeom>
          <a:solidFill>
            <a:srgbClr val="3A2226"/>
          </a:solidFill>
          <a:ln/>
        </p:spPr>
      </p:sp>
      <p:sp>
        <p:nvSpPr>
          <p:cNvPr id="19" name="Text 17"/>
          <p:cNvSpPr/>
          <p:nvPr/>
        </p:nvSpPr>
        <p:spPr>
          <a:xfrm>
            <a:off x="822960" y="4645152"/>
            <a:ext cx="2743200" cy="274320"/>
          </a:xfrm>
          <a:prstGeom prst="rect">
            <a:avLst/>
          </a:prstGeom>
          <a:noFill/>
          <a:ln/>
        </p:spPr>
        <p:txBody>
          <a:bodyPr wrap="square" rtlCol="0" anchor="ctr"/>
          <a:lstStyle/>
          <a:p>
            <a:pPr marL="0" indent="0">
              <a:buNone/>
            </a:pPr>
            <a:r>
              <a:rPr lang="en-US" sz="1000" dirty="0">
                <a:solidFill>
                  <a:srgbClr val="5C6169"/>
                </a:solidFill>
                <a:latin typeface="Calibri" pitchFamily="34" charset="0"/>
                <a:ea typeface="Calibri" pitchFamily="34" charset="-122"/>
                <a:cs typeface="Calibri" pitchFamily="34" charset="-120"/>
              </a:rPr>
              <a:t>time offset →</a:t>
            </a:r>
            <a:endParaRPr lang="en-US" sz="1000" dirty="0"/>
          </a:p>
        </p:txBody>
      </p:sp>
      <p:sp>
        <p:nvSpPr>
          <p:cNvPr id="20" name="Text 18"/>
          <p:cNvSpPr/>
          <p:nvPr/>
        </p:nvSpPr>
        <p:spPr>
          <a:xfrm>
            <a:off x="777240" y="1965960"/>
            <a:ext cx="1828800" cy="274320"/>
          </a:xfrm>
          <a:prstGeom prst="rect">
            <a:avLst/>
          </a:prstGeom>
          <a:noFill/>
          <a:ln/>
        </p:spPr>
        <p:txBody>
          <a:bodyPr wrap="square" rtlCol="0" anchor="ctr"/>
          <a:lstStyle/>
          <a:p>
            <a:pPr marL="0" indent="0">
              <a:buNone/>
            </a:pPr>
            <a:r>
              <a:rPr lang="en-US" sz="1000" dirty="0">
                <a:solidFill>
                  <a:srgbClr val="5C6169"/>
                </a:solidFill>
                <a:latin typeface="Calibri" pitchFamily="34" charset="0"/>
                <a:ea typeface="Calibri" pitchFamily="34" charset="-122"/>
                <a:cs typeface="Calibri" pitchFamily="34" charset="-120"/>
              </a:rPr>
              <a:t>votes ↑</a:t>
            </a:r>
            <a:endParaRPr lang="en-US" sz="1000" dirty="0"/>
          </a:p>
        </p:txBody>
      </p:sp>
      <p:sp>
        <p:nvSpPr>
          <p:cNvPr id="21" name="Shape 19"/>
          <p:cNvSpPr/>
          <p:nvPr/>
        </p:nvSpPr>
        <p:spPr>
          <a:xfrm flipV="1">
            <a:off x="5935287" y="2423160"/>
            <a:ext cx="1188720" cy="182880"/>
          </a:xfrm>
          <a:prstGeom prst="line">
            <a:avLst/>
          </a:prstGeom>
          <a:noFill/>
          <a:ln w="19050">
            <a:solidFill>
              <a:srgbClr val="FF4757"/>
            </a:solidFill>
            <a:prstDash val="solid"/>
            <a:headEnd type="none"/>
            <a:tailEnd type="triangle"/>
          </a:ln>
        </p:spPr>
      </p:sp>
      <p:sp>
        <p:nvSpPr>
          <p:cNvPr id="22" name="Text 20"/>
          <p:cNvSpPr/>
          <p:nvPr/>
        </p:nvSpPr>
        <p:spPr>
          <a:xfrm>
            <a:off x="6118167" y="1993392"/>
            <a:ext cx="2926080" cy="274320"/>
          </a:xfrm>
          <a:prstGeom prst="rect">
            <a:avLst/>
          </a:prstGeom>
          <a:noFill/>
          <a:ln/>
        </p:spPr>
        <p:txBody>
          <a:bodyPr wrap="square" rtlCol="0" anchor="ctr"/>
          <a:lstStyle/>
          <a:p>
            <a:pPr marL="0" indent="0">
              <a:buNone/>
            </a:pPr>
            <a:r>
              <a:rPr lang="en-US" sz="1200" b="1" kern="0" spc="100" dirty="0">
                <a:solidFill>
                  <a:srgbClr val="FF4757"/>
                </a:solidFill>
                <a:latin typeface="Arial" pitchFamily="34" charset="0"/>
                <a:ea typeface="Arial" pitchFamily="34" charset="-122"/>
                <a:cs typeface="Arial" pitchFamily="34" charset="-120"/>
              </a:rPr>
              <a:t>CONFIDENCE SCORE</a:t>
            </a:r>
            <a:endParaRPr lang="en-US" sz="1200" dirty="0"/>
          </a:p>
        </p:txBody>
      </p:sp>
      <p:sp>
        <p:nvSpPr>
          <p:cNvPr id="23" name="Shape 21"/>
          <p:cNvSpPr/>
          <p:nvPr/>
        </p:nvSpPr>
        <p:spPr>
          <a:xfrm>
            <a:off x="640080" y="4937760"/>
            <a:ext cx="10881360" cy="1234440"/>
          </a:xfrm>
          <a:prstGeom prst="rect">
            <a:avLst/>
          </a:prstGeom>
          <a:solidFill>
            <a:srgbClr val="170B0D"/>
          </a:solidFill>
          <a:ln w="12700">
            <a:solidFill>
              <a:srgbClr val="6E0E1B"/>
            </a:solidFill>
            <a:prstDash val="solid"/>
          </a:ln>
        </p:spPr>
      </p:sp>
      <p:sp>
        <p:nvSpPr>
          <p:cNvPr id="24" name="Text 22"/>
          <p:cNvSpPr/>
          <p:nvPr/>
        </p:nvSpPr>
        <p:spPr>
          <a:xfrm>
            <a:off x="914400" y="4937760"/>
            <a:ext cx="10332720" cy="1234440"/>
          </a:xfrm>
          <a:prstGeom prst="rect">
            <a:avLst/>
          </a:prstGeom>
          <a:noFill/>
          <a:ln/>
        </p:spPr>
        <p:txBody>
          <a:bodyPr wrap="square" rtlCol="0" anchor="ctr"/>
          <a:lstStyle/>
          <a:p>
            <a:pPr marL="0" indent="0">
              <a:lnSpc>
                <a:spcPct val="120000"/>
              </a:lnSpc>
              <a:buNone/>
            </a:pPr>
            <a:r>
              <a:rPr lang="en-US" sz="1350" dirty="0">
                <a:solidFill>
                  <a:srgbClr val="FFFFFF"/>
                </a:solidFill>
                <a:latin typeface="Calibri" pitchFamily="34" charset="0"/>
                <a:ea typeface="Calibri" pitchFamily="34" charset="-122"/>
                <a:cs typeface="Calibri" pitchFamily="34" charset="-120"/>
              </a:rPr>
              <a:t>True matches share ONE consistent time offset — every correct hash “votes” for the same bar, creating a massive spike. Coincidental matches scatter randomly across every offset. The height of the tallest spike is the confidence score you see on screen.</a:t>
            </a:r>
            <a:endParaRPr lang="en-US" sz="1350" dirty="0"/>
          </a:p>
        </p:txBody>
      </p:sp>
      <p:sp>
        <p:nvSpPr>
          <p:cNvPr id="25" name="Text 23"/>
          <p:cNvSpPr/>
          <p:nvPr/>
        </p:nvSpPr>
        <p:spPr>
          <a:xfrm>
            <a:off x="502920" y="6510528"/>
            <a:ext cx="5486400" cy="274320"/>
          </a:xfrm>
          <a:prstGeom prst="rect">
            <a:avLst/>
          </a:prstGeom>
          <a:noFill/>
          <a:ln/>
        </p:spPr>
        <p:txBody>
          <a:bodyPr wrap="square" rtlCol="0" anchor="ctr"/>
          <a:lstStyle/>
          <a:p>
            <a:pPr marL="0" indent="0">
              <a:buNone/>
            </a:pPr>
            <a:r>
              <a:rPr lang="en-US" sz="900" dirty="0">
                <a:solidFill>
                  <a:srgbClr val="5C6169"/>
                </a:solidFill>
                <a:latin typeface="Calibri" pitchFamily="34" charset="0"/>
                <a:ea typeface="Calibri" pitchFamily="34" charset="-122"/>
                <a:cs typeface="Calibri" pitchFamily="34" charset="-120"/>
              </a:rPr>
              <a:t>Audio Pattern Recognition System</a:t>
            </a:r>
            <a:endParaRPr lang="en-US" sz="900" dirty="0"/>
          </a:p>
        </p:txBody>
      </p:sp>
      <p:sp>
        <p:nvSpPr>
          <p:cNvPr id="26" name="Text 24"/>
          <p:cNvSpPr/>
          <p:nvPr/>
        </p:nvSpPr>
        <p:spPr>
          <a:xfrm>
            <a:off x="11338560" y="6510528"/>
            <a:ext cx="365760" cy="274320"/>
          </a:xfrm>
          <a:prstGeom prst="rect">
            <a:avLst/>
          </a:prstGeom>
          <a:noFill/>
          <a:ln/>
        </p:spPr>
        <p:txBody>
          <a:bodyPr wrap="square" rtlCol="0" anchor="ctr"/>
          <a:lstStyle/>
          <a:p>
            <a:pPr marL="0" indent="0" algn="r">
              <a:buNone/>
            </a:pPr>
            <a:r>
              <a:rPr lang="en-US" sz="900" dirty="0">
                <a:solidFill>
                  <a:srgbClr val="5C616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A0A0C"/>
        </a:solidFill>
        <a:effectLst/>
      </p:bgPr>
    </p:bg>
    <p:spTree>
      <p:nvGrpSpPr>
        <p:cNvPr id="1" name=""/>
        <p:cNvGrpSpPr/>
        <p:nvPr/>
      </p:nvGrpSpPr>
      <p:grpSpPr>
        <a:xfrm>
          <a:off x="0" y="0"/>
          <a:ext cx="0" cy="0"/>
          <a:chOff x="0" y="0"/>
          <a:chExt cx="0" cy="0"/>
        </a:xfrm>
      </p:grpSpPr>
      <p:sp>
        <p:nvSpPr>
          <p:cNvPr id="2" name="Shape 0"/>
          <p:cNvSpPr/>
          <p:nvPr/>
        </p:nvSpPr>
        <p:spPr>
          <a:xfrm>
            <a:off x="502920" y="502920"/>
            <a:ext cx="82296" cy="457200"/>
          </a:xfrm>
          <a:prstGeom prst="rect">
            <a:avLst/>
          </a:prstGeom>
          <a:solidFill>
            <a:srgbClr val="E8112D"/>
          </a:solidFill>
          <a:ln/>
        </p:spPr>
      </p:sp>
      <p:sp>
        <p:nvSpPr>
          <p:cNvPr id="3" name="Text 1"/>
          <p:cNvSpPr/>
          <p:nvPr/>
        </p:nvSpPr>
        <p:spPr>
          <a:xfrm>
            <a:off x="713232" y="384048"/>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A Quick Word on Recommendations</a:t>
            </a:r>
            <a:endParaRPr lang="en-US" sz="2600" dirty="0"/>
          </a:p>
        </p:txBody>
      </p:sp>
      <p:sp>
        <p:nvSpPr>
          <p:cNvPr id="4" name="Text 2"/>
          <p:cNvSpPr/>
          <p:nvPr/>
        </p:nvSpPr>
        <p:spPr>
          <a:xfrm>
            <a:off x="640080" y="1417320"/>
            <a:ext cx="10881360" cy="45720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Once a song is identified, we also suggest three acoustically similar tracks — a lightweight bonus feature.</a:t>
            </a:r>
            <a:endParaRPr lang="en-US" sz="1450" dirty="0"/>
          </a:p>
        </p:txBody>
      </p:sp>
      <p:sp>
        <p:nvSpPr>
          <p:cNvPr id="5" name="Text 3"/>
          <p:cNvSpPr/>
          <p:nvPr/>
        </p:nvSpPr>
        <p:spPr>
          <a:xfrm>
            <a:off x="640080" y="2304288"/>
            <a:ext cx="822960" cy="685800"/>
          </a:xfrm>
          <a:prstGeom prst="rect">
            <a:avLst/>
          </a:prstGeom>
          <a:noFill/>
          <a:ln/>
        </p:spPr>
        <p:txBody>
          <a:bodyPr wrap="square" rtlCol="0" anchor="ctr"/>
          <a:lstStyle/>
          <a:p>
            <a:pPr marL="0" indent="0">
              <a:buNone/>
            </a:pPr>
            <a:r>
              <a:rPr lang="en-US" sz="3400" b="1" dirty="0">
                <a:solidFill>
                  <a:srgbClr val="E8112D"/>
                </a:solidFill>
                <a:latin typeface="Arial" pitchFamily="34" charset="0"/>
                <a:ea typeface="Arial" pitchFamily="34" charset="-122"/>
                <a:cs typeface="Arial" pitchFamily="34" charset="-120"/>
              </a:rPr>
              <a:t>01</a:t>
            </a:r>
            <a:endParaRPr lang="en-US" sz="3400" dirty="0"/>
          </a:p>
        </p:txBody>
      </p:sp>
      <p:sp>
        <p:nvSpPr>
          <p:cNvPr id="6" name="Text 4"/>
          <p:cNvSpPr/>
          <p:nvPr/>
        </p:nvSpPr>
        <p:spPr>
          <a:xfrm>
            <a:off x="1417320" y="2377440"/>
            <a:ext cx="443484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Two simple features per song</a:t>
            </a:r>
            <a:endParaRPr lang="en-US" sz="1500" dirty="0"/>
          </a:p>
        </p:txBody>
      </p:sp>
      <p:sp>
        <p:nvSpPr>
          <p:cNvPr id="7" name="Text 5"/>
          <p:cNvSpPr/>
          <p:nvPr/>
        </p:nvSpPr>
        <p:spPr>
          <a:xfrm>
            <a:off x="1417320" y="2688336"/>
            <a:ext cx="4434840" cy="640080"/>
          </a:xfrm>
          <a:prstGeom prst="rect">
            <a:avLst/>
          </a:prstGeom>
          <a:noFill/>
          <a:ln/>
        </p:spPr>
        <p:txBody>
          <a:bodyPr wrap="square" rtlCol="0" anchor="ctr"/>
          <a:lstStyle/>
          <a:p>
            <a:pPr marL="0" indent="0">
              <a:lnSpc>
                <a:spcPct val="108000"/>
              </a:lnSpc>
              <a:buNone/>
            </a:pPr>
            <a:r>
              <a:rPr lang="en-US" sz="1200" dirty="0">
                <a:solidFill>
                  <a:srgbClr val="9AA0A8"/>
                </a:solidFill>
                <a:latin typeface="Calibri" pitchFamily="34" charset="0"/>
                <a:ea typeface="Calibri" pitchFamily="34" charset="-122"/>
                <a:cs typeface="Calibri" pitchFamily="34" charset="-120"/>
              </a:rPr>
              <a:t>Spectral centroid (brightness) and zero-crossing rate (percussiveness) — computed once, during database building.</a:t>
            </a:r>
            <a:endParaRPr lang="en-US" sz="1200" dirty="0"/>
          </a:p>
        </p:txBody>
      </p:sp>
      <p:sp>
        <p:nvSpPr>
          <p:cNvPr id="8" name="Text 6"/>
          <p:cNvSpPr/>
          <p:nvPr/>
        </p:nvSpPr>
        <p:spPr>
          <a:xfrm>
            <a:off x="6126480" y="2304288"/>
            <a:ext cx="822960" cy="685800"/>
          </a:xfrm>
          <a:prstGeom prst="rect">
            <a:avLst/>
          </a:prstGeom>
          <a:noFill/>
          <a:ln/>
        </p:spPr>
        <p:txBody>
          <a:bodyPr wrap="square" rtlCol="0" anchor="ctr"/>
          <a:lstStyle/>
          <a:p>
            <a:pPr marL="0" indent="0">
              <a:buNone/>
            </a:pPr>
            <a:r>
              <a:rPr lang="en-US" sz="3400" b="1" dirty="0">
                <a:solidFill>
                  <a:srgbClr val="E8112D"/>
                </a:solidFill>
                <a:latin typeface="Arial" pitchFamily="34" charset="0"/>
                <a:ea typeface="Arial" pitchFamily="34" charset="-122"/>
                <a:cs typeface="Arial" pitchFamily="34" charset="-120"/>
              </a:rPr>
              <a:t>02</a:t>
            </a:r>
            <a:endParaRPr lang="en-US" sz="3400" dirty="0"/>
          </a:p>
        </p:txBody>
      </p:sp>
      <p:sp>
        <p:nvSpPr>
          <p:cNvPr id="9" name="Text 7"/>
          <p:cNvSpPr/>
          <p:nvPr/>
        </p:nvSpPr>
        <p:spPr>
          <a:xfrm>
            <a:off x="6903720" y="2377440"/>
            <a:ext cx="443484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Nearest 3 by distance</a:t>
            </a:r>
            <a:endParaRPr lang="en-US" sz="1500" dirty="0"/>
          </a:p>
        </p:txBody>
      </p:sp>
      <p:sp>
        <p:nvSpPr>
          <p:cNvPr id="10" name="Text 8"/>
          <p:cNvSpPr/>
          <p:nvPr/>
        </p:nvSpPr>
        <p:spPr>
          <a:xfrm>
            <a:off x="6903720" y="2688336"/>
            <a:ext cx="4434840" cy="640080"/>
          </a:xfrm>
          <a:prstGeom prst="rect">
            <a:avLst/>
          </a:prstGeom>
          <a:noFill/>
          <a:ln/>
        </p:spPr>
        <p:txBody>
          <a:bodyPr wrap="square" rtlCol="0" anchor="ctr"/>
          <a:lstStyle/>
          <a:p>
            <a:pPr marL="0" indent="0">
              <a:lnSpc>
                <a:spcPct val="108000"/>
              </a:lnSpc>
              <a:buNone/>
            </a:pPr>
            <a:r>
              <a:rPr lang="en-US" sz="1200" dirty="0">
                <a:solidFill>
                  <a:srgbClr val="9AA0A8"/>
                </a:solidFill>
                <a:latin typeface="Calibri" pitchFamily="34" charset="0"/>
                <a:ea typeface="Calibri" pitchFamily="34" charset="-122"/>
                <a:cs typeface="Calibri" pitchFamily="34" charset="-120"/>
              </a:rPr>
              <a:t>Euclidean distance between feature values — the 3 closest songs become the recommendations.</a:t>
            </a:r>
            <a:endParaRPr lang="en-US" sz="1200" dirty="0"/>
          </a:p>
        </p:txBody>
      </p:sp>
      <p:sp>
        <p:nvSpPr>
          <p:cNvPr id="11" name="Shape 9"/>
          <p:cNvSpPr/>
          <p:nvPr/>
        </p:nvSpPr>
        <p:spPr>
          <a:xfrm>
            <a:off x="640080" y="3931920"/>
            <a:ext cx="10881360" cy="777240"/>
          </a:xfrm>
          <a:prstGeom prst="rect">
            <a:avLst/>
          </a:prstGeom>
          <a:solidFill>
            <a:srgbClr val="170B0D"/>
          </a:solidFill>
          <a:ln w="12700">
            <a:solidFill>
              <a:srgbClr val="6E0E1B"/>
            </a:solidFill>
            <a:prstDash val="solid"/>
          </a:ln>
        </p:spPr>
      </p:sp>
      <p:sp>
        <p:nvSpPr>
          <p:cNvPr id="12" name="Text 10"/>
          <p:cNvSpPr/>
          <p:nvPr/>
        </p:nvSpPr>
        <p:spPr>
          <a:xfrm>
            <a:off x="914400" y="3931920"/>
            <a:ext cx="10332720" cy="777240"/>
          </a:xfrm>
          <a:prstGeom prst="rect">
            <a:avLst/>
          </a:prstGeom>
          <a:noFill/>
          <a:ln/>
        </p:spPr>
        <p:txBody>
          <a:bodyPr wrap="square" rtlCol="0" anchor="ctr"/>
          <a:lstStyle/>
          <a:p>
            <a:pPr marL="0" indent="0">
              <a:buNone/>
            </a:pPr>
            <a:r>
              <a:rPr lang="en-US" sz="1350" i="1" dirty="0">
                <a:solidFill>
                  <a:srgbClr val="9AA0A8"/>
                </a:solidFill>
                <a:latin typeface="Calibri" pitchFamily="34" charset="0"/>
                <a:ea typeface="Calibri" pitchFamily="34" charset="-122"/>
                <a:cs typeface="Calibri" pitchFamily="34" charset="-120"/>
              </a:rPr>
              <a:t>No genre labels needed — just numbers computed directly from the audio itself.</a:t>
            </a:r>
            <a:endParaRPr lang="en-US" sz="1350" dirty="0"/>
          </a:p>
        </p:txBody>
      </p:sp>
      <p:sp>
        <p:nvSpPr>
          <p:cNvPr id="13" name="Text 11"/>
          <p:cNvSpPr/>
          <p:nvPr/>
        </p:nvSpPr>
        <p:spPr>
          <a:xfrm>
            <a:off x="502920" y="6510528"/>
            <a:ext cx="5486400" cy="274320"/>
          </a:xfrm>
          <a:prstGeom prst="rect">
            <a:avLst/>
          </a:prstGeom>
          <a:noFill/>
          <a:ln/>
        </p:spPr>
        <p:txBody>
          <a:bodyPr wrap="square" rtlCol="0" anchor="ctr"/>
          <a:lstStyle/>
          <a:p>
            <a:pPr marL="0" indent="0">
              <a:buNone/>
            </a:pPr>
            <a:r>
              <a:rPr lang="en-US" sz="900" dirty="0">
                <a:solidFill>
                  <a:srgbClr val="5C6169"/>
                </a:solidFill>
                <a:latin typeface="Calibri" pitchFamily="34" charset="0"/>
                <a:ea typeface="Calibri" pitchFamily="34" charset="-122"/>
                <a:cs typeface="Calibri" pitchFamily="34" charset="-120"/>
              </a:rPr>
              <a:t>Audio Pattern Recognition System</a:t>
            </a:r>
            <a:endParaRPr lang="en-US" sz="900" dirty="0"/>
          </a:p>
        </p:txBody>
      </p:sp>
      <p:sp>
        <p:nvSpPr>
          <p:cNvPr id="14" name="Text 12"/>
          <p:cNvSpPr/>
          <p:nvPr/>
        </p:nvSpPr>
        <p:spPr>
          <a:xfrm>
            <a:off x="11338560" y="6510528"/>
            <a:ext cx="365760" cy="274320"/>
          </a:xfrm>
          <a:prstGeom prst="rect">
            <a:avLst/>
          </a:prstGeom>
          <a:noFill/>
          <a:ln/>
        </p:spPr>
        <p:txBody>
          <a:bodyPr wrap="square" rtlCol="0" anchor="ctr"/>
          <a:lstStyle/>
          <a:p>
            <a:pPr marL="0" indent="0" algn="r">
              <a:buNone/>
            </a:pPr>
            <a:r>
              <a:rPr lang="en-US" sz="900" dirty="0">
                <a:solidFill>
                  <a:srgbClr val="5C616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A0C"/>
        </a:solidFill>
        <a:effectLst/>
      </p:bgPr>
    </p:bg>
    <p:spTree>
      <p:nvGrpSpPr>
        <p:cNvPr id="1" name=""/>
        <p:cNvGrpSpPr/>
        <p:nvPr/>
      </p:nvGrpSpPr>
      <p:grpSpPr>
        <a:xfrm>
          <a:off x="0" y="0"/>
          <a:ext cx="0" cy="0"/>
          <a:chOff x="0" y="0"/>
          <a:chExt cx="0" cy="0"/>
        </a:xfrm>
      </p:grpSpPr>
      <p:sp>
        <p:nvSpPr>
          <p:cNvPr id="2" name="Shape 0"/>
          <p:cNvSpPr/>
          <p:nvPr/>
        </p:nvSpPr>
        <p:spPr>
          <a:xfrm>
            <a:off x="502920" y="502920"/>
            <a:ext cx="82296" cy="457200"/>
          </a:xfrm>
          <a:prstGeom prst="rect">
            <a:avLst/>
          </a:prstGeom>
          <a:solidFill>
            <a:srgbClr val="E8112D"/>
          </a:solidFill>
          <a:ln/>
        </p:spPr>
      </p:sp>
      <p:sp>
        <p:nvSpPr>
          <p:cNvPr id="3" name="Text 1"/>
          <p:cNvSpPr/>
          <p:nvPr/>
        </p:nvSpPr>
        <p:spPr>
          <a:xfrm>
            <a:off x="713232" y="384048"/>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How Our GUI Looks</a:t>
            </a:r>
            <a:endParaRPr lang="en-US" sz="2600" dirty="0"/>
          </a:p>
        </p:txBody>
      </p:sp>
      <p:sp>
        <p:nvSpPr>
          <p:cNvPr id="4" name="Text 2"/>
          <p:cNvSpPr/>
          <p:nvPr/>
        </p:nvSpPr>
        <p:spPr>
          <a:xfrm>
            <a:off x="640080" y="1417320"/>
            <a:ext cx="10881360" cy="45720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Graphical Interface during active recording, with the live mic </a:t>
            </a:r>
            <a:r>
              <a:rPr lang="en-US" sz="1450" dirty="0" err="1">
                <a:solidFill>
                  <a:srgbClr val="FFFFFF"/>
                </a:solidFill>
                <a:latin typeface="Calibri" pitchFamily="34" charset="0"/>
                <a:ea typeface="Calibri" pitchFamily="34" charset="-122"/>
                <a:cs typeface="Calibri" pitchFamily="34" charset="-120"/>
              </a:rPr>
              <a:t>level:</a:t>
            </a:r>
            <a:r>
              <a:rPr lang="en-US" sz="1600" dirty="0" err="1"/>
              <a:t>Graphical</a:t>
            </a:r>
            <a:r>
              <a:rPr lang="en-US" sz="1600" dirty="0"/>
              <a:t> interface showing a successful match, confidence score, and recommended tracks</a:t>
            </a:r>
            <a:endParaRPr lang="en-US" sz="1450" dirty="0"/>
          </a:p>
        </p:txBody>
      </p:sp>
      <p:sp>
        <p:nvSpPr>
          <p:cNvPr id="5" name="Text 3"/>
          <p:cNvSpPr/>
          <p:nvPr/>
        </p:nvSpPr>
        <p:spPr>
          <a:xfrm>
            <a:off x="640080" y="2304288"/>
            <a:ext cx="822960" cy="685800"/>
          </a:xfrm>
          <a:prstGeom prst="rect">
            <a:avLst/>
          </a:prstGeom>
          <a:noFill/>
          <a:ln/>
        </p:spPr>
        <p:txBody>
          <a:bodyPr wrap="square" rtlCol="0" anchor="ctr"/>
          <a:lstStyle/>
          <a:p>
            <a:pPr marL="0" indent="0">
              <a:buNone/>
            </a:pPr>
            <a:endParaRPr lang="en-US" sz="3400" dirty="0"/>
          </a:p>
        </p:txBody>
      </p:sp>
      <p:sp>
        <p:nvSpPr>
          <p:cNvPr id="9" name="Text 7"/>
          <p:cNvSpPr/>
          <p:nvPr/>
        </p:nvSpPr>
        <p:spPr>
          <a:xfrm>
            <a:off x="6903720" y="2377440"/>
            <a:ext cx="4434840" cy="320040"/>
          </a:xfrm>
          <a:prstGeom prst="rect">
            <a:avLst/>
          </a:prstGeom>
          <a:noFill/>
          <a:ln/>
        </p:spPr>
        <p:txBody>
          <a:bodyPr wrap="square" rtlCol="0" anchor="ctr"/>
          <a:lstStyle/>
          <a:p>
            <a:pPr marL="0" indent="0">
              <a:buNone/>
            </a:pPr>
            <a:endParaRPr lang="en-US" sz="1500" dirty="0"/>
          </a:p>
        </p:txBody>
      </p:sp>
      <p:sp>
        <p:nvSpPr>
          <p:cNvPr id="10" name="Text 8"/>
          <p:cNvSpPr/>
          <p:nvPr/>
        </p:nvSpPr>
        <p:spPr>
          <a:xfrm>
            <a:off x="6903720" y="2688336"/>
            <a:ext cx="4434840" cy="640080"/>
          </a:xfrm>
          <a:prstGeom prst="rect">
            <a:avLst/>
          </a:prstGeom>
          <a:noFill/>
          <a:ln/>
        </p:spPr>
        <p:txBody>
          <a:bodyPr wrap="square" rtlCol="0" anchor="ctr"/>
          <a:lstStyle/>
          <a:p>
            <a:pPr marL="0" indent="0">
              <a:lnSpc>
                <a:spcPct val="108000"/>
              </a:lnSpc>
              <a:buNone/>
            </a:pPr>
            <a:endParaRPr lang="en-US" sz="1200" dirty="0"/>
          </a:p>
        </p:txBody>
      </p:sp>
      <p:sp>
        <p:nvSpPr>
          <p:cNvPr id="12" name="Text 10"/>
          <p:cNvSpPr/>
          <p:nvPr/>
        </p:nvSpPr>
        <p:spPr>
          <a:xfrm>
            <a:off x="914400" y="3931920"/>
            <a:ext cx="10332720" cy="777240"/>
          </a:xfrm>
          <a:prstGeom prst="rect">
            <a:avLst/>
          </a:prstGeom>
          <a:noFill/>
          <a:ln/>
        </p:spPr>
        <p:txBody>
          <a:bodyPr wrap="square" rtlCol="0" anchor="ctr"/>
          <a:lstStyle/>
          <a:p>
            <a:pPr marL="0" indent="0">
              <a:buNone/>
            </a:pPr>
            <a:endParaRPr lang="en-US" sz="1350" dirty="0"/>
          </a:p>
        </p:txBody>
      </p:sp>
      <p:sp>
        <p:nvSpPr>
          <p:cNvPr id="13" name="Text 11"/>
          <p:cNvSpPr/>
          <p:nvPr/>
        </p:nvSpPr>
        <p:spPr>
          <a:xfrm>
            <a:off x="502920" y="6510528"/>
            <a:ext cx="5486400" cy="274320"/>
          </a:xfrm>
          <a:prstGeom prst="rect">
            <a:avLst/>
          </a:prstGeom>
          <a:noFill/>
          <a:ln/>
        </p:spPr>
        <p:txBody>
          <a:bodyPr wrap="square" rtlCol="0" anchor="ctr"/>
          <a:lstStyle/>
          <a:p>
            <a:pPr marL="0" indent="0">
              <a:buNone/>
            </a:pPr>
            <a:r>
              <a:rPr lang="en-US" sz="900" dirty="0">
                <a:solidFill>
                  <a:srgbClr val="5C6169"/>
                </a:solidFill>
                <a:latin typeface="Calibri" pitchFamily="34" charset="0"/>
                <a:ea typeface="Calibri" pitchFamily="34" charset="-122"/>
                <a:cs typeface="Calibri" pitchFamily="34" charset="-120"/>
              </a:rPr>
              <a:t>Audio Pattern Recognition System</a:t>
            </a:r>
            <a:endParaRPr lang="en-US" sz="900" dirty="0"/>
          </a:p>
        </p:txBody>
      </p:sp>
      <p:sp>
        <p:nvSpPr>
          <p:cNvPr id="14" name="Text 12"/>
          <p:cNvSpPr/>
          <p:nvPr/>
        </p:nvSpPr>
        <p:spPr>
          <a:xfrm>
            <a:off x="11338560" y="6510528"/>
            <a:ext cx="365760" cy="274320"/>
          </a:xfrm>
          <a:prstGeom prst="rect">
            <a:avLst/>
          </a:prstGeom>
          <a:noFill/>
          <a:ln/>
        </p:spPr>
        <p:txBody>
          <a:bodyPr wrap="square" rtlCol="0" anchor="ctr"/>
          <a:lstStyle/>
          <a:p>
            <a:pPr marL="0" indent="0" algn="r">
              <a:buNone/>
            </a:pPr>
            <a:r>
              <a:rPr lang="en-US" sz="900" dirty="0">
                <a:solidFill>
                  <a:srgbClr val="5C6169"/>
                </a:solidFill>
                <a:latin typeface="Calibri" pitchFamily="34" charset="0"/>
                <a:ea typeface="Calibri" pitchFamily="34" charset="-122"/>
                <a:cs typeface="Calibri" pitchFamily="34" charset="-120"/>
              </a:rPr>
              <a:t>7</a:t>
            </a:r>
            <a:endParaRPr lang="en-US" sz="900" dirty="0"/>
          </a:p>
        </p:txBody>
      </p:sp>
      <p:pic>
        <p:nvPicPr>
          <p:cNvPr id="17" name="Picture 16">
            <a:extLst>
              <a:ext uri="{FF2B5EF4-FFF2-40B4-BE49-F238E27FC236}">
                <a16:creationId xmlns:a16="http://schemas.microsoft.com/office/drawing/2014/main" id="{210C9ECE-8AB8-437B-8230-03C875C204B0}"/>
              </a:ext>
            </a:extLst>
          </p:cNvPr>
          <p:cNvPicPr>
            <a:picLocks noChangeAspect="1"/>
          </p:cNvPicPr>
          <p:nvPr/>
        </p:nvPicPr>
        <p:blipFill>
          <a:blip r:embed="rId3"/>
          <a:stretch>
            <a:fillRect/>
          </a:stretch>
        </p:blipFill>
        <p:spPr>
          <a:xfrm>
            <a:off x="3164306" y="1874521"/>
            <a:ext cx="5775158" cy="4417996"/>
          </a:xfrm>
          <a:prstGeom prst="rect">
            <a:avLst/>
          </a:prstGeom>
        </p:spPr>
      </p:pic>
    </p:spTree>
    <p:extLst>
      <p:ext uri="{BB962C8B-B14F-4D97-AF65-F5344CB8AC3E}">
        <p14:creationId xmlns:p14="http://schemas.microsoft.com/office/powerpoint/2010/main" val="2215866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A0C"/>
        </a:solidFill>
        <a:effectLst/>
      </p:bgPr>
    </p:bg>
    <p:spTree>
      <p:nvGrpSpPr>
        <p:cNvPr id="1" name=""/>
        <p:cNvGrpSpPr/>
        <p:nvPr/>
      </p:nvGrpSpPr>
      <p:grpSpPr>
        <a:xfrm>
          <a:off x="0" y="0"/>
          <a:ext cx="0" cy="0"/>
          <a:chOff x="0" y="0"/>
          <a:chExt cx="0" cy="0"/>
        </a:xfrm>
      </p:grpSpPr>
      <p:sp>
        <p:nvSpPr>
          <p:cNvPr id="2" name="Shape 0"/>
          <p:cNvSpPr/>
          <p:nvPr/>
        </p:nvSpPr>
        <p:spPr>
          <a:xfrm>
            <a:off x="502920" y="502920"/>
            <a:ext cx="82296" cy="457200"/>
          </a:xfrm>
          <a:prstGeom prst="rect">
            <a:avLst/>
          </a:prstGeom>
          <a:solidFill>
            <a:srgbClr val="E8112D"/>
          </a:solidFill>
          <a:ln/>
        </p:spPr>
      </p:sp>
      <p:sp>
        <p:nvSpPr>
          <p:cNvPr id="3" name="Text 1"/>
          <p:cNvSpPr/>
          <p:nvPr/>
        </p:nvSpPr>
        <p:spPr>
          <a:xfrm>
            <a:off x="713232" y="384048"/>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How The Whole Thing Looks</a:t>
            </a:r>
            <a:endParaRPr lang="en-US" sz="2600" dirty="0"/>
          </a:p>
        </p:txBody>
      </p:sp>
      <p:sp>
        <p:nvSpPr>
          <p:cNvPr id="4" name="Text 2"/>
          <p:cNvSpPr/>
          <p:nvPr/>
        </p:nvSpPr>
        <p:spPr>
          <a:xfrm>
            <a:off x="640080" y="1417320"/>
            <a:ext cx="10881360" cy="45720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Graphical Interface showing a successful match, </a:t>
            </a:r>
            <a:r>
              <a:rPr lang="en-US" sz="1450" dirty="0" err="1">
                <a:solidFill>
                  <a:srgbClr val="FFFFFF"/>
                </a:solidFill>
                <a:latin typeface="Calibri" pitchFamily="34" charset="0"/>
                <a:ea typeface="Calibri" pitchFamily="34" charset="-122"/>
                <a:cs typeface="Calibri" pitchFamily="34" charset="-120"/>
              </a:rPr>
              <a:t>Succeessful</a:t>
            </a:r>
            <a:r>
              <a:rPr lang="en-US" sz="1450" dirty="0">
                <a:solidFill>
                  <a:srgbClr val="FFFFFF"/>
                </a:solidFill>
                <a:latin typeface="Calibri" pitchFamily="34" charset="0"/>
                <a:ea typeface="Calibri" pitchFamily="34" charset="-122"/>
                <a:cs typeface="Calibri" pitchFamily="34" charset="-120"/>
              </a:rPr>
              <a:t> match &amp; Confidence Score :</a:t>
            </a:r>
            <a:r>
              <a:rPr lang="en-US" sz="1600" dirty="0"/>
              <a:t>Graphical interface showing a successful match, confidence score, and recommended tracks</a:t>
            </a:r>
            <a:endParaRPr lang="en-US" sz="1450" dirty="0"/>
          </a:p>
        </p:txBody>
      </p:sp>
      <p:sp>
        <p:nvSpPr>
          <p:cNvPr id="5" name="Text 3"/>
          <p:cNvSpPr/>
          <p:nvPr/>
        </p:nvSpPr>
        <p:spPr>
          <a:xfrm>
            <a:off x="640080" y="2304288"/>
            <a:ext cx="822960" cy="685800"/>
          </a:xfrm>
          <a:prstGeom prst="rect">
            <a:avLst/>
          </a:prstGeom>
          <a:noFill/>
          <a:ln/>
        </p:spPr>
        <p:txBody>
          <a:bodyPr wrap="square" rtlCol="0" anchor="ctr"/>
          <a:lstStyle/>
          <a:p>
            <a:pPr marL="0" indent="0">
              <a:buNone/>
            </a:pPr>
            <a:endParaRPr lang="en-US" sz="3400" dirty="0"/>
          </a:p>
        </p:txBody>
      </p:sp>
      <p:sp>
        <p:nvSpPr>
          <p:cNvPr id="9" name="Text 7"/>
          <p:cNvSpPr/>
          <p:nvPr/>
        </p:nvSpPr>
        <p:spPr>
          <a:xfrm>
            <a:off x="6903720" y="2377440"/>
            <a:ext cx="4434840" cy="320040"/>
          </a:xfrm>
          <a:prstGeom prst="rect">
            <a:avLst/>
          </a:prstGeom>
          <a:noFill/>
          <a:ln/>
        </p:spPr>
        <p:txBody>
          <a:bodyPr wrap="square" rtlCol="0" anchor="ctr"/>
          <a:lstStyle/>
          <a:p>
            <a:pPr marL="0" indent="0">
              <a:buNone/>
            </a:pPr>
            <a:endParaRPr lang="en-US" sz="1500" dirty="0"/>
          </a:p>
        </p:txBody>
      </p:sp>
      <p:sp>
        <p:nvSpPr>
          <p:cNvPr id="10" name="Text 8"/>
          <p:cNvSpPr/>
          <p:nvPr/>
        </p:nvSpPr>
        <p:spPr>
          <a:xfrm>
            <a:off x="6903720" y="2688336"/>
            <a:ext cx="4434840" cy="640080"/>
          </a:xfrm>
          <a:prstGeom prst="rect">
            <a:avLst/>
          </a:prstGeom>
          <a:noFill/>
          <a:ln/>
        </p:spPr>
        <p:txBody>
          <a:bodyPr wrap="square" rtlCol="0" anchor="ctr"/>
          <a:lstStyle/>
          <a:p>
            <a:pPr marL="0" indent="0">
              <a:lnSpc>
                <a:spcPct val="108000"/>
              </a:lnSpc>
              <a:buNone/>
            </a:pPr>
            <a:endParaRPr lang="en-US" sz="1200" dirty="0"/>
          </a:p>
        </p:txBody>
      </p:sp>
      <p:sp>
        <p:nvSpPr>
          <p:cNvPr id="12" name="Text 10"/>
          <p:cNvSpPr/>
          <p:nvPr/>
        </p:nvSpPr>
        <p:spPr>
          <a:xfrm>
            <a:off x="914400" y="3931920"/>
            <a:ext cx="10332720" cy="777240"/>
          </a:xfrm>
          <a:prstGeom prst="rect">
            <a:avLst/>
          </a:prstGeom>
          <a:noFill/>
          <a:ln/>
        </p:spPr>
        <p:txBody>
          <a:bodyPr wrap="square" rtlCol="0" anchor="ctr"/>
          <a:lstStyle/>
          <a:p>
            <a:pPr marL="0" indent="0">
              <a:buNone/>
            </a:pPr>
            <a:endParaRPr lang="en-US" sz="1350" dirty="0"/>
          </a:p>
        </p:txBody>
      </p:sp>
      <p:sp>
        <p:nvSpPr>
          <p:cNvPr id="13" name="Text 11"/>
          <p:cNvSpPr/>
          <p:nvPr/>
        </p:nvSpPr>
        <p:spPr>
          <a:xfrm>
            <a:off x="502920" y="6510528"/>
            <a:ext cx="5486400" cy="274320"/>
          </a:xfrm>
          <a:prstGeom prst="rect">
            <a:avLst/>
          </a:prstGeom>
          <a:noFill/>
          <a:ln/>
        </p:spPr>
        <p:txBody>
          <a:bodyPr wrap="square" rtlCol="0" anchor="ctr"/>
          <a:lstStyle/>
          <a:p>
            <a:pPr marL="0" indent="0">
              <a:buNone/>
            </a:pPr>
            <a:r>
              <a:rPr lang="en-US" sz="900" dirty="0">
                <a:solidFill>
                  <a:srgbClr val="5C6169"/>
                </a:solidFill>
                <a:latin typeface="Calibri" pitchFamily="34" charset="0"/>
                <a:ea typeface="Calibri" pitchFamily="34" charset="-122"/>
                <a:cs typeface="Calibri" pitchFamily="34" charset="-120"/>
              </a:rPr>
              <a:t>Audio Pattern Recognition System</a:t>
            </a:r>
            <a:endParaRPr lang="en-US" sz="900" dirty="0"/>
          </a:p>
        </p:txBody>
      </p:sp>
      <p:sp>
        <p:nvSpPr>
          <p:cNvPr id="14" name="Text 12"/>
          <p:cNvSpPr/>
          <p:nvPr/>
        </p:nvSpPr>
        <p:spPr>
          <a:xfrm>
            <a:off x="11338560" y="6510528"/>
            <a:ext cx="365760" cy="274320"/>
          </a:xfrm>
          <a:prstGeom prst="rect">
            <a:avLst/>
          </a:prstGeom>
          <a:noFill/>
          <a:ln/>
        </p:spPr>
        <p:txBody>
          <a:bodyPr wrap="square" rtlCol="0" anchor="ctr"/>
          <a:lstStyle/>
          <a:p>
            <a:pPr marL="0" indent="0" algn="r">
              <a:buNone/>
            </a:pPr>
            <a:r>
              <a:rPr lang="en-US" sz="900" dirty="0">
                <a:solidFill>
                  <a:srgbClr val="5C6169"/>
                </a:solidFill>
                <a:latin typeface="Calibri" pitchFamily="34" charset="0"/>
                <a:ea typeface="Calibri" pitchFamily="34" charset="-122"/>
                <a:cs typeface="Calibri" pitchFamily="34" charset="-120"/>
              </a:rPr>
              <a:t>7</a:t>
            </a:r>
            <a:endParaRPr lang="en-US" sz="900" dirty="0"/>
          </a:p>
        </p:txBody>
      </p:sp>
      <p:pic>
        <p:nvPicPr>
          <p:cNvPr id="16" name="Picture 15" descr="A screenshot of a video chat&#10;&#10;Description automatically generated">
            <a:extLst>
              <a:ext uri="{FF2B5EF4-FFF2-40B4-BE49-F238E27FC236}">
                <a16:creationId xmlns:a16="http://schemas.microsoft.com/office/drawing/2014/main" id="{25FD8F45-5F7C-41FE-97E1-67BB0C0D8C85}"/>
              </a:ext>
            </a:extLst>
          </p:cNvPr>
          <p:cNvPicPr>
            <a:picLocks noChangeAspect="1"/>
          </p:cNvPicPr>
          <p:nvPr/>
        </p:nvPicPr>
        <p:blipFill>
          <a:blip r:embed="rId3"/>
          <a:stretch>
            <a:fillRect/>
          </a:stretch>
        </p:blipFill>
        <p:spPr>
          <a:xfrm>
            <a:off x="1260709" y="1841417"/>
            <a:ext cx="9670582" cy="4632535"/>
          </a:xfrm>
          <a:prstGeom prst="rect">
            <a:avLst/>
          </a:prstGeom>
        </p:spPr>
      </p:pic>
    </p:spTree>
    <p:extLst>
      <p:ext uri="{BB962C8B-B14F-4D97-AF65-F5344CB8AC3E}">
        <p14:creationId xmlns:p14="http://schemas.microsoft.com/office/powerpoint/2010/main" val="3768833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A0A0C"/>
        </a:solidFill>
        <a:effectLst/>
      </p:bgPr>
    </p:bg>
    <p:spTree>
      <p:nvGrpSpPr>
        <p:cNvPr id="1" name=""/>
        <p:cNvGrpSpPr/>
        <p:nvPr/>
      </p:nvGrpSpPr>
      <p:grpSpPr>
        <a:xfrm>
          <a:off x="0" y="0"/>
          <a:ext cx="0" cy="0"/>
          <a:chOff x="0" y="0"/>
          <a:chExt cx="0" cy="0"/>
        </a:xfrm>
      </p:grpSpPr>
      <p:sp>
        <p:nvSpPr>
          <p:cNvPr id="2" name="Shape 0"/>
          <p:cNvSpPr/>
          <p:nvPr/>
        </p:nvSpPr>
        <p:spPr>
          <a:xfrm>
            <a:off x="502920" y="502920"/>
            <a:ext cx="82296" cy="457200"/>
          </a:xfrm>
          <a:prstGeom prst="rect">
            <a:avLst/>
          </a:prstGeom>
          <a:solidFill>
            <a:srgbClr val="E8112D"/>
          </a:solidFill>
          <a:ln/>
        </p:spPr>
      </p:sp>
      <p:sp>
        <p:nvSpPr>
          <p:cNvPr id="3" name="Text 1"/>
          <p:cNvSpPr/>
          <p:nvPr/>
        </p:nvSpPr>
        <p:spPr>
          <a:xfrm>
            <a:off x="713232" y="384048"/>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Why Doesn't It Work for Humming?</a:t>
            </a:r>
            <a:endParaRPr lang="en-US" sz="2600" dirty="0"/>
          </a:p>
        </p:txBody>
      </p:sp>
      <p:sp>
        <p:nvSpPr>
          <p:cNvPr id="4" name="Text 2"/>
          <p:cNvSpPr/>
          <p:nvPr/>
        </p:nvSpPr>
        <p:spPr>
          <a:xfrm>
            <a:off x="713232" y="868680"/>
            <a:ext cx="10515600" cy="320040"/>
          </a:xfrm>
          <a:prstGeom prst="rect">
            <a:avLst/>
          </a:prstGeom>
          <a:noFill/>
          <a:ln/>
        </p:spPr>
        <p:txBody>
          <a:bodyPr wrap="square" rtlCol="0" anchor="ctr"/>
          <a:lstStyle/>
          <a:p>
            <a:pPr marL="0" indent="0">
              <a:buNone/>
            </a:pPr>
            <a:r>
              <a:rPr lang="en-US" sz="1300" i="1" dirty="0">
                <a:solidFill>
                  <a:srgbClr val="9AA0A8"/>
                </a:solidFill>
                <a:latin typeface="Calibri" pitchFamily="34" charset="0"/>
                <a:ea typeface="Calibri" pitchFamily="34" charset="-122"/>
                <a:cs typeface="Calibri" pitchFamily="34" charset="-120"/>
              </a:rPr>
              <a:t>A limitation we chose deliberately</a:t>
            </a:r>
            <a:endParaRPr lang="en-US" sz="1300" dirty="0"/>
          </a:p>
        </p:txBody>
      </p:sp>
      <p:sp>
        <p:nvSpPr>
          <p:cNvPr id="5" name="Text 3"/>
          <p:cNvSpPr/>
          <p:nvPr/>
        </p:nvSpPr>
        <p:spPr>
          <a:xfrm>
            <a:off x="640080" y="1389888"/>
            <a:ext cx="822960" cy="685800"/>
          </a:xfrm>
          <a:prstGeom prst="rect">
            <a:avLst/>
          </a:prstGeom>
          <a:noFill/>
          <a:ln/>
        </p:spPr>
        <p:txBody>
          <a:bodyPr wrap="square" rtlCol="0" anchor="ctr"/>
          <a:lstStyle/>
          <a:p>
            <a:pPr marL="0" indent="0">
              <a:buNone/>
            </a:pPr>
            <a:r>
              <a:rPr lang="en-US" sz="3400" b="1" dirty="0">
                <a:solidFill>
                  <a:srgbClr val="E8112D"/>
                </a:solidFill>
                <a:latin typeface="Arial" pitchFamily="34" charset="0"/>
                <a:ea typeface="Arial" pitchFamily="34" charset="-122"/>
                <a:cs typeface="Arial" pitchFamily="34" charset="-120"/>
              </a:rPr>
              <a:t>01</a:t>
            </a:r>
            <a:endParaRPr lang="en-US" sz="3400" dirty="0"/>
          </a:p>
        </p:txBody>
      </p:sp>
      <p:sp>
        <p:nvSpPr>
          <p:cNvPr id="6" name="Text 4"/>
          <p:cNvSpPr/>
          <p:nvPr/>
        </p:nvSpPr>
        <p:spPr>
          <a:xfrm>
            <a:off x="1417320" y="1463040"/>
            <a:ext cx="1010412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Our hashing needs dense, layered peaks</a:t>
            </a:r>
            <a:endParaRPr lang="en-US" sz="1500" dirty="0"/>
          </a:p>
        </p:txBody>
      </p:sp>
      <p:sp>
        <p:nvSpPr>
          <p:cNvPr id="7" name="Text 5"/>
          <p:cNvSpPr/>
          <p:nvPr/>
        </p:nvSpPr>
        <p:spPr>
          <a:xfrm>
            <a:off x="1417320" y="1773936"/>
            <a:ext cx="10104120" cy="640080"/>
          </a:xfrm>
          <a:prstGeom prst="rect">
            <a:avLst/>
          </a:prstGeom>
          <a:noFill/>
          <a:ln/>
        </p:spPr>
        <p:txBody>
          <a:bodyPr wrap="square" rtlCol="0" anchor="ctr"/>
          <a:lstStyle/>
          <a:p>
            <a:pPr marL="0" indent="0">
              <a:lnSpc>
                <a:spcPct val="108000"/>
              </a:lnSpc>
              <a:buNone/>
            </a:pPr>
            <a:r>
              <a:rPr lang="en-US" sz="1200" dirty="0">
                <a:solidFill>
                  <a:srgbClr val="9AA0A8"/>
                </a:solidFill>
                <a:latin typeface="Calibri" pitchFamily="34" charset="0"/>
                <a:ea typeface="Calibri" pitchFamily="34" charset="-122"/>
                <a:cs typeface="Calibri" pitchFamily="34" charset="-120"/>
              </a:rPr>
              <a:t>Constellation hashing works because a real recording is polyphonic — vocals plus multiple instruments stacked together, giving hundreds of strong, stable peaks per second.</a:t>
            </a:r>
            <a:endParaRPr lang="en-US" sz="1200" dirty="0"/>
          </a:p>
        </p:txBody>
      </p:sp>
      <p:sp>
        <p:nvSpPr>
          <p:cNvPr id="8" name="Text 6"/>
          <p:cNvSpPr/>
          <p:nvPr/>
        </p:nvSpPr>
        <p:spPr>
          <a:xfrm>
            <a:off x="640080" y="2441448"/>
            <a:ext cx="822960" cy="685800"/>
          </a:xfrm>
          <a:prstGeom prst="rect">
            <a:avLst/>
          </a:prstGeom>
          <a:noFill/>
          <a:ln/>
        </p:spPr>
        <p:txBody>
          <a:bodyPr wrap="square" rtlCol="0" anchor="ctr"/>
          <a:lstStyle/>
          <a:p>
            <a:pPr marL="0" indent="0">
              <a:buNone/>
            </a:pPr>
            <a:r>
              <a:rPr lang="en-US" sz="3400" b="1" dirty="0">
                <a:solidFill>
                  <a:srgbClr val="E8112D"/>
                </a:solidFill>
                <a:latin typeface="Arial" pitchFamily="34" charset="0"/>
                <a:ea typeface="Arial" pitchFamily="34" charset="-122"/>
                <a:cs typeface="Arial" pitchFamily="34" charset="-120"/>
              </a:rPr>
              <a:t>02</a:t>
            </a:r>
            <a:endParaRPr lang="en-US" sz="3400" dirty="0"/>
          </a:p>
        </p:txBody>
      </p:sp>
      <p:sp>
        <p:nvSpPr>
          <p:cNvPr id="9" name="Text 7"/>
          <p:cNvSpPr/>
          <p:nvPr/>
        </p:nvSpPr>
        <p:spPr>
          <a:xfrm>
            <a:off x="1417320" y="2514600"/>
            <a:ext cx="1010412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Humming is monophonic and inconsistent</a:t>
            </a:r>
            <a:endParaRPr lang="en-US" sz="1500" dirty="0"/>
          </a:p>
        </p:txBody>
      </p:sp>
      <p:sp>
        <p:nvSpPr>
          <p:cNvPr id="10" name="Text 8"/>
          <p:cNvSpPr/>
          <p:nvPr/>
        </p:nvSpPr>
        <p:spPr>
          <a:xfrm>
            <a:off x="1417320" y="2825496"/>
            <a:ext cx="10104120" cy="640080"/>
          </a:xfrm>
          <a:prstGeom prst="rect">
            <a:avLst/>
          </a:prstGeom>
          <a:noFill/>
          <a:ln/>
        </p:spPr>
        <p:txBody>
          <a:bodyPr wrap="square" rtlCol="0" anchor="ctr"/>
          <a:lstStyle/>
          <a:p>
            <a:pPr marL="0" indent="0">
              <a:lnSpc>
                <a:spcPct val="108000"/>
              </a:lnSpc>
              <a:buNone/>
            </a:pPr>
            <a:r>
              <a:rPr lang="en-US" sz="1200" dirty="0">
                <a:solidFill>
                  <a:srgbClr val="9AA0A8"/>
                </a:solidFill>
                <a:latin typeface="Calibri" pitchFamily="34" charset="0"/>
                <a:ea typeface="Calibri" pitchFamily="34" charset="-122"/>
                <a:cs typeface="Calibri" pitchFamily="34" charset="-120"/>
              </a:rPr>
              <a:t>A single hummed note carries far fewer peaks — and no two humans hum the same melody at the same pitch or tempo twice.</a:t>
            </a:r>
            <a:endParaRPr lang="en-US" sz="1200" dirty="0"/>
          </a:p>
        </p:txBody>
      </p:sp>
      <p:sp>
        <p:nvSpPr>
          <p:cNvPr id="11" name="Text 9"/>
          <p:cNvSpPr/>
          <p:nvPr/>
        </p:nvSpPr>
        <p:spPr>
          <a:xfrm>
            <a:off x="640080" y="3493008"/>
            <a:ext cx="822960" cy="685800"/>
          </a:xfrm>
          <a:prstGeom prst="rect">
            <a:avLst/>
          </a:prstGeom>
          <a:noFill/>
          <a:ln/>
        </p:spPr>
        <p:txBody>
          <a:bodyPr wrap="square" rtlCol="0" anchor="ctr"/>
          <a:lstStyle/>
          <a:p>
            <a:pPr marL="0" indent="0">
              <a:buNone/>
            </a:pPr>
            <a:r>
              <a:rPr lang="en-US" sz="3400" b="1" dirty="0">
                <a:solidFill>
                  <a:srgbClr val="E8112D"/>
                </a:solidFill>
                <a:latin typeface="Arial" pitchFamily="34" charset="0"/>
                <a:ea typeface="Arial" pitchFamily="34" charset="-122"/>
                <a:cs typeface="Arial" pitchFamily="34" charset="-120"/>
              </a:rPr>
              <a:t>03</a:t>
            </a:r>
            <a:endParaRPr lang="en-US" sz="3400" dirty="0"/>
          </a:p>
        </p:txBody>
      </p:sp>
      <p:sp>
        <p:nvSpPr>
          <p:cNvPr id="12" name="Text 10"/>
          <p:cNvSpPr/>
          <p:nvPr/>
        </p:nvSpPr>
        <p:spPr>
          <a:xfrm>
            <a:off x="1417320" y="3566160"/>
            <a:ext cx="1010412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real fix (DTW) is too slow for this</a:t>
            </a:r>
            <a:endParaRPr lang="en-US" sz="1500" dirty="0"/>
          </a:p>
        </p:txBody>
      </p:sp>
      <p:sp>
        <p:nvSpPr>
          <p:cNvPr id="13" name="Text 11"/>
          <p:cNvSpPr/>
          <p:nvPr/>
        </p:nvSpPr>
        <p:spPr>
          <a:xfrm>
            <a:off x="1417320" y="3877056"/>
            <a:ext cx="10104120" cy="640080"/>
          </a:xfrm>
          <a:prstGeom prst="rect">
            <a:avLst/>
          </a:prstGeom>
          <a:noFill/>
          <a:ln/>
        </p:spPr>
        <p:txBody>
          <a:bodyPr wrap="square" rtlCol="0" anchor="ctr"/>
          <a:lstStyle/>
          <a:p>
            <a:pPr marL="0" indent="0">
              <a:lnSpc>
                <a:spcPct val="108000"/>
              </a:lnSpc>
              <a:buNone/>
            </a:pPr>
            <a:r>
              <a:rPr lang="en-US" sz="1200" dirty="0">
                <a:solidFill>
                  <a:srgbClr val="9AA0A8"/>
                </a:solidFill>
                <a:latin typeface="Calibri" pitchFamily="34" charset="0"/>
                <a:ea typeface="Calibri" pitchFamily="34" charset="-122"/>
                <a:cs typeface="Calibri" pitchFamily="34" charset="-120"/>
              </a:rPr>
              <a:t>Matching hummed melodies needs Dynamic Time Warping over pitch contours — accurate, but far too computationally heavy for real-time MATLAB.</a:t>
            </a:r>
            <a:endParaRPr lang="en-US" sz="1200" dirty="0"/>
          </a:p>
        </p:txBody>
      </p:sp>
      <p:sp>
        <p:nvSpPr>
          <p:cNvPr id="14" name="Shape 12"/>
          <p:cNvSpPr/>
          <p:nvPr/>
        </p:nvSpPr>
        <p:spPr>
          <a:xfrm>
            <a:off x="640080" y="4800600"/>
            <a:ext cx="10881360" cy="1234440"/>
          </a:xfrm>
          <a:prstGeom prst="rect">
            <a:avLst/>
          </a:prstGeom>
          <a:solidFill>
            <a:srgbClr val="6E0E1B"/>
          </a:solidFill>
          <a:ln/>
        </p:spPr>
      </p:sp>
      <p:sp>
        <p:nvSpPr>
          <p:cNvPr id="15" name="Text 13"/>
          <p:cNvSpPr/>
          <p:nvPr/>
        </p:nvSpPr>
        <p:spPr>
          <a:xfrm>
            <a:off x="914400" y="4800600"/>
            <a:ext cx="10332720" cy="1234440"/>
          </a:xfrm>
          <a:prstGeom prst="rect">
            <a:avLst/>
          </a:prstGeom>
          <a:noFill/>
          <a:ln/>
        </p:spPr>
        <p:txBody>
          <a:bodyPr wrap="square" rtlCol="0" anchor="ctr"/>
          <a:lstStyle/>
          <a:p>
            <a:pPr marL="0" indent="0">
              <a:lnSpc>
                <a:spcPct val="115000"/>
              </a:lnSpc>
              <a:buNone/>
            </a:pPr>
            <a:r>
              <a:rPr lang="en-US" sz="1500" b="1" dirty="0">
                <a:solidFill>
                  <a:srgbClr val="FFFFFF"/>
                </a:solidFill>
                <a:latin typeface="Calibri" pitchFamily="34" charset="0"/>
                <a:ea typeface="Calibri" pitchFamily="34" charset="-122"/>
                <a:cs typeface="Calibri" pitchFamily="34" charset="-120"/>
              </a:rPr>
              <a:t>We chose accuracy and real-time speed over humming support — a deliberate, documented engineering trade-off, not an oversight.</a:t>
            </a:r>
            <a:endParaRPr lang="en-US" sz="1500" dirty="0"/>
          </a:p>
        </p:txBody>
      </p:sp>
      <p:sp>
        <p:nvSpPr>
          <p:cNvPr id="16" name="Text 14"/>
          <p:cNvSpPr/>
          <p:nvPr/>
        </p:nvSpPr>
        <p:spPr>
          <a:xfrm>
            <a:off x="502920" y="6510528"/>
            <a:ext cx="5486400" cy="274320"/>
          </a:xfrm>
          <a:prstGeom prst="rect">
            <a:avLst/>
          </a:prstGeom>
          <a:noFill/>
          <a:ln/>
        </p:spPr>
        <p:txBody>
          <a:bodyPr wrap="square" rtlCol="0" anchor="ctr"/>
          <a:lstStyle/>
          <a:p>
            <a:pPr marL="0" indent="0">
              <a:buNone/>
            </a:pPr>
            <a:r>
              <a:rPr lang="en-US" sz="900" dirty="0">
                <a:solidFill>
                  <a:srgbClr val="5C6169"/>
                </a:solidFill>
                <a:latin typeface="Calibri" pitchFamily="34" charset="0"/>
                <a:ea typeface="Calibri" pitchFamily="34" charset="-122"/>
                <a:cs typeface="Calibri" pitchFamily="34" charset="-120"/>
              </a:rPr>
              <a:t>Audio Pattern Recognition System</a:t>
            </a:r>
            <a:endParaRPr lang="en-US" sz="900" dirty="0"/>
          </a:p>
        </p:txBody>
      </p:sp>
      <p:sp>
        <p:nvSpPr>
          <p:cNvPr id="17" name="Text 15"/>
          <p:cNvSpPr/>
          <p:nvPr/>
        </p:nvSpPr>
        <p:spPr>
          <a:xfrm>
            <a:off x="11338560" y="6510528"/>
            <a:ext cx="365760" cy="274320"/>
          </a:xfrm>
          <a:prstGeom prst="rect">
            <a:avLst/>
          </a:prstGeom>
          <a:noFill/>
          <a:ln/>
        </p:spPr>
        <p:txBody>
          <a:bodyPr wrap="square" rtlCol="0" anchor="ctr"/>
          <a:lstStyle/>
          <a:p>
            <a:pPr marL="0" indent="0" algn="r">
              <a:buNone/>
            </a:pPr>
            <a:r>
              <a:rPr lang="en-US" sz="900" dirty="0">
                <a:solidFill>
                  <a:srgbClr val="5C616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A0A0C"/>
        </a:solidFill>
        <a:effectLst/>
      </p:bgPr>
    </p:bg>
    <p:spTree>
      <p:nvGrpSpPr>
        <p:cNvPr id="1" name=""/>
        <p:cNvGrpSpPr/>
        <p:nvPr/>
      </p:nvGrpSpPr>
      <p:grpSpPr>
        <a:xfrm>
          <a:off x="0" y="0"/>
          <a:ext cx="0" cy="0"/>
          <a:chOff x="0" y="0"/>
          <a:chExt cx="0" cy="0"/>
        </a:xfrm>
      </p:grpSpPr>
      <p:sp>
        <p:nvSpPr>
          <p:cNvPr id="2" name="Shape 0"/>
          <p:cNvSpPr/>
          <p:nvPr/>
        </p:nvSpPr>
        <p:spPr>
          <a:xfrm>
            <a:off x="502920" y="502920"/>
            <a:ext cx="82296" cy="457200"/>
          </a:xfrm>
          <a:prstGeom prst="rect">
            <a:avLst/>
          </a:prstGeom>
          <a:solidFill>
            <a:srgbClr val="E8112D"/>
          </a:solidFill>
          <a:ln/>
        </p:spPr>
      </p:sp>
      <p:sp>
        <p:nvSpPr>
          <p:cNvPr id="3" name="Text 1"/>
          <p:cNvSpPr/>
          <p:nvPr/>
        </p:nvSpPr>
        <p:spPr>
          <a:xfrm>
            <a:off x="713232" y="384048"/>
            <a:ext cx="10515600" cy="5486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Results</a:t>
            </a:r>
            <a:endParaRPr lang="en-US" sz="2600" dirty="0"/>
          </a:p>
        </p:txBody>
      </p:sp>
      <p:sp>
        <p:nvSpPr>
          <p:cNvPr id="4" name="Shape 2"/>
          <p:cNvSpPr/>
          <p:nvPr/>
        </p:nvSpPr>
        <p:spPr>
          <a:xfrm>
            <a:off x="640080" y="1417320"/>
            <a:ext cx="4114800" cy="2103120"/>
          </a:xfrm>
          <a:prstGeom prst="rect">
            <a:avLst/>
          </a:prstGeom>
          <a:solidFill>
            <a:srgbClr val="E8112D"/>
          </a:solidFill>
          <a:ln/>
        </p:spPr>
      </p:sp>
      <p:sp>
        <p:nvSpPr>
          <p:cNvPr id="5" name="Text 3"/>
          <p:cNvSpPr/>
          <p:nvPr/>
        </p:nvSpPr>
        <p:spPr>
          <a:xfrm>
            <a:off x="640080" y="1554480"/>
            <a:ext cx="4114800" cy="1051560"/>
          </a:xfrm>
          <a:prstGeom prst="rect">
            <a:avLst/>
          </a:prstGeom>
          <a:noFill/>
          <a:ln/>
        </p:spPr>
        <p:txBody>
          <a:bodyPr wrap="square" rtlCol="0" anchor="ctr"/>
          <a:lstStyle/>
          <a:p>
            <a:pPr marL="0" indent="0" algn="ctr">
              <a:buNone/>
            </a:pPr>
            <a:r>
              <a:rPr lang="en-US" sz="5600" b="1" dirty="0">
                <a:solidFill>
                  <a:srgbClr val="FFFFFF"/>
                </a:solidFill>
                <a:latin typeface="Arial" pitchFamily="34" charset="0"/>
                <a:ea typeface="Arial" pitchFamily="34" charset="-122"/>
                <a:cs typeface="Arial" pitchFamily="34" charset="-120"/>
              </a:rPr>
              <a:t>100%</a:t>
            </a:r>
            <a:endParaRPr lang="en-US" sz="5600" dirty="0"/>
          </a:p>
        </p:txBody>
      </p:sp>
      <p:sp>
        <p:nvSpPr>
          <p:cNvPr id="6" name="Text 4"/>
          <p:cNvSpPr/>
          <p:nvPr/>
        </p:nvSpPr>
        <p:spPr>
          <a:xfrm>
            <a:off x="640080" y="2606040"/>
            <a:ext cx="4114800" cy="320040"/>
          </a:xfrm>
          <a:prstGeom prst="rect">
            <a:avLst/>
          </a:prstGeom>
          <a:noFill/>
          <a:ln/>
        </p:spPr>
        <p:txBody>
          <a:bodyPr wrap="square" rtlCol="0" anchor="ctr"/>
          <a:lstStyle/>
          <a:p>
            <a:pPr marL="0" indent="0" algn="ctr">
              <a:buNone/>
            </a:pPr>
            <a:r>
              <a:rPr lang="en-US" sz="1250" b="1" kern="0" spc="100" dirty="0">
                <a:solidFill>
                  <a:srgbClr val="FFFFFF"/>
                </a:solidFill>
                <a:latin typeface="Calibri" pitchFamily="34" charset="0"/>
                <a:ea typeface="Calibri" pitchFamily="34" charset="-122"/>
                <a:cs typeface="Calibri" pitchFamily="34" charset="-120"/>
              </a:rPr>
              <a:t>CONTROLLED-TEST ACCURACY</a:t>
            </a:r>
            <a:endParaRPr lang="en-US" sz="1250" dirty="0"/>
          </a:p>
        </p:txBody>
      </p:sp>
      <p:sp>
        <p:nvSpPr>
          <p:cNvPr id="7" name="Text 5"/>
          <p:cNvSpPr/>
          <p:nvPr/>
        </p:nvSpPr>
        <p:spPr>
          <a:xfrm>
            <a:off x="640080" y="2926080"/>
            <a:ext cx="4114800" cy="457200"/>
          </a:xfrm>
          <a:prstGeom prst="rect">
            <a:avLst/>
          </a:prstGeom>
          <a:noFill/>
          <a:ln/>
        </p:spPr>
        <p:txBody>
          <a:bodyPr wrap="square" rtlCol="0" anchor="ctr"/>
          <a:lstStyle/>
          <a:p>
            <a:pPr marL="0" indent="0" algn="ctr">
              <a:buNone/>
            </a:pPr>
            <a:r>
              <a:rPr lang="en-US" sz="1150" dirty="0">
                <a:solidFill>
                  <a:srgbClr val="FFD8DD"/>
                </a:solidFill>
                <a:latin typeface="Calibri" pitchFamily="34" charset="0"/>
                <a:ea typeface="Calibri" pitchFamily="34" charset="-122"/>
                <a:cs typeface="Calibri" pitchFamily="34" charset="-120"/>
              </a:rPr>
              <a:t>51 / 51 songs correctly identified</a:t>
            </a:r>
            <a:endParaRPr lang="en-US" sz="1150" dirty="0"/>
          </a:p>
        </p:txBody>
      </p:sp>
      <p:sp>
        <p:nvSpPr>
          <p:cNvPr id="8" name="Text 6"/>
          <p:cNvSpPr/>
          <p:nvPr/>
        </p:nvSpPr>
        <p:spPr>
          <a:xfrm>
            <a:off x="5120640" y="1435608"/>
            <a:ext cx="822960" cy="685800"/>
          </a:xfrm>
          <a:prstGeom prst="rect">
            <a:avLst/>
          </a:prstGeom>
          <a:noFill/>
          <a:ln/>
        </p:spPr>
        <p:txBody>
          <a:bodyPr wrap="square" rtlCol="0" anchor="ctr"/>
          <a:lstStyle/>
          <a:p>
            <a:pPr marL="0" indent="0">
              <a:buNone/>
            </a:pPr>
            <a:r>
              <a:rPr lang="en-US" sz="3400" b="1" dirty="0">
                <a:solidFill>
                  <a:srgbClr val="E8112D"/>
                </a:solidFill>
                <a:latin typeface="Arial" pitchFamily="34" charset="0"/>
                <a:ea typeface="Arial" pitchFamily="34" charset="-122"/>
                <a:cs typeface="Arial" pitchFamily="34" charset="-120"/>
              </a:rPr>
              <a:t>✓</a:t>
            </a:r>
            <a:endParaRPr lang="en-US" sz="3400" dirty="0"/>
          </a:p>
        </p:txBody>
      </p:sp>
      <p:sp>
        <p:nvSpPr>
          <p:cNvPr id="9" name="Text 7"/>
          <p:cNvSpPr/>
          <p:nvPr/>
        </p:nvSpPr>
        <p:spPr>
          <a:xfrm>
            <a:off x="5897880" y="1508760"/>
            <a:ext cx="562356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Vocal segments: reliable</a:t>
            </a:r>
            <a:endParaRPr lang="en-US" sz="1500" dirty="0"/>
          </a:p>
        </p:txBody>
      </p:sp>
      <p:sp>
        <p:nvSpPr>
          <p:cNvPr id="10" name="Text 8"/>
          <p:cNvSpPr/>
          <p:nvPr/>
        </p:nvSpPr>
        <p:spPr>
          <a:xfrm>
            <a:off x="5897880" y="1819656"/>
            <a:ext cx="5623560" cy="640080"/>
          </a:xfrm>
          <a:prstGeom prst="rect">
            <a:avLst/>
          </a:prstGeom>
          <a:noFill/>
          <a:ln/>
        </p:spPr>
        <p:txBody>
          <a:bodyPr wrap="square" rtlCol="0" anchor="ctr"/>
          <a:lstStyle/>
          <a:p>
            <a:pPr marL="0" indent="0">
              <a:lnSpc>
                <a:spcPct val="108000"/>
              </a:lnSpc>
              <a:buNone/>
            </a:pPr>
            <a:r>
              <a:rPr lang="en-US" sz="1250" dirty="0">
                <a:solidFill>
                  <a:srgbClr val="9AA0A8"/>
                </a:solidFill>
                <a:latin typeface="Calibri" pitchFamily="34" charset="0"/>
                <a:ea typeface="Calibri" pitchFamily="34" charset="-122"/>
                <a:cs typeface="Calibri" pitchFamily="34" charset="-120"/>
              </a:rPr>
              <a:t>Identified consistently within 5–10 seconds — real-world, not just lab conditions.</a:t>
            </a:r>
            <a:endParaRPr lang="en-US" sz="1250" dirty="0"/>
          </a:p>
        </p:txBody>
      </p:sp>
      <p:sp>
        <p:nvSpPr>
          <p:cNvPr id="11" name="Text 9"/>
          <p:cNvSpPr/>
          <p:nvPr/>
        </p:nvSpPr>
        <p:spPr>
          <a:xfrm>
            <a:off x="5120640" y="2624328"/>
            <a:ext cx="822960" cy="685800"/>
          </a:xfrm>
          <a:prstGeom prst="rect">
            <a:avLst/>
          </a:prstGeom>
          <a:noFill/>
          <a:ln/>
        </p:spPr>
        <p:txBody>
          <a:bodyPr wrap="square" rtlCol="0" anchor="ctr"/>
          <a:lstStyle/>
          <a:p>
            <a:pPr marL="0" indent="0">
              <a:buNone/>
            </a:pPr>
            <a:r>
              <a:rPr lang="en-US" sz="3400" b="1" dirty="0">
                <a:solidFill>
                  <a:srgbClr val="E8112D"/>
                </a:solidFill>
                <a:latin typeface="Arial" pitchFamily="34" charset="0"/>
                <a:ea typeface="Arial" pitchFamily="34" charset="-122"/>
                <a:cs typeface="Arial" pitchFamily="34" charset="-120"/>
              </a:rPr>
              <a:t>!</a:t>
            </a:r>
            <a:endParaRPr lang="en-US" sz="3400" dirty="0"/>
          </a:p>
        </p:txBody>
      </p:sp>
      <p:sp>
        <p:nvSpPr>
          <p:cNvPr id="12" name="Text 10"/>
          <p:cNvSpPr/>
          <p:nvPr/>
        </p:nvSpPr>
        <p:spPr>
          <a:xfrm>
            <a:off x="5897880" y="2697480"/>
            <a:ext cx="562356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Instrumental-only: harder, and we know why</a:t>
            </a:r>
            <a:endParaRPr lang="en-US" sz="1500" dirty="0"/>
          </a:p>
        </p:txBody>
      </p:sp>
      <p:sp>
        <p:nvSpPr>
          <p:cNvPr id="13" name="Text 11"/>
          <p:cNvSpPr/>
          <p:nvPr/>
        </p:nvSpPr>
        <p:spPr>
          <a:xfrm>
            <a:off x="5897880" y="3008376"/>
            <a:ext cx="5623560" cy="640080"/>
          </a:xfrm>
          <a:prstGeom prst="rect">
            <a:avLst/>
          </a:prstGeom>
          <a:noFill/>
          <a:ln/>
        </p:spPr>
        <p:txBody>
          <a:bodyPr wrap="square" rtlCol="0" anchor="ctr"/>
          <a:lstStyle/>
          <a:p>
            <a:pPr marL="0" indent="0">
              <a:lnSpc>
                <a:spcPct val="108000"/>
              </a:lnSpc>
              <a:buNone/>
            </a:pPr>
            <a:r>
              <a:rPr lang="en-US" sz="1250" dirty="0">
                <a:solidFill>
                  <a:srgbClr val="9AA0A8"/>
                </a:solidFill>
                <a:latin typeface="Calibri" pitchFamily="34" charset="0"/>
                <a:ea typeface="Calibri" pitchFamily="34" charset="-122"/>
                <a:cs typeface="Calibri" pitchFamily="34" charset="-120"/>
              </a:rPr>
              <a:t>Confirmed with two different microphones — traced to vocal-forward mixing in commercial music, not a system flaw.</a:t>
            </a:r>
            <a:endParaRPr lang="en-US" sz="1250" dirty="0"/>
          </a:p>
        </p:txBody>
      </p:sp>
      <p:sp>
        <p:nvSpPr>
          <p:cNvPr id="14" name="Shape 12"/>
          <p:cNvSpPr/>
          <p:nvPr/>
        </p:nvSpPr>
        <p:spPr>
          <a:xfrm>
            <a:off x="640080" y="4280595"/>
            <a:ext cx="10881360" cy="1965960"/>
          </a:xfrm>
          <a:prstGeom prst="rect">
            <a:avLst/>
          </a:prstGeom>
          <a:solidFill>
            <a:srgbClr val="120A0B"/>
          </a:solidFill>
          <a:ln w="15875">
            <a:solidFill>
              <a:srgbClr val="6E0E1B"/>
            </a:solidFill>
            <a:prstDash val="dash"/>
          </a:ln>
        </p:spPr>
      </p:sp>
      <p:sp>
        <p:nvSpPr>
          <p:cNvPr id="15" name="Text 13"/>
          <p:cNvSpPr/>
          <p:nvPr/>
        </p:nvSpPr>
        <p:spPr>
          <a:xfrm>
            <a:off x="777240" y="4594860"/>
            <a:ext cx="10607040" cy="640080"/>
          </a:xfrm>
          <a:prstGeom prst="rect">
            <a:avLst/>
          </a:prstGeom>
          <a:noFill/>
          <a:ln/>
        </p:spPr>
        <p:txBody>
          <a:bodyPr wrap="square" rtlCol="0" anchor="ctr"/>
          <a:lstStyle/>
          <a:p>
            <a:pPr marL="0" indent="0" algn="ctr">
              <a:buNone/>
            </a:pPr>
            <a:r>
              <a:rPr lang="en-US" sz="1100" i="1" dirty="0">
                <a:solidFill>
                  <a:srgbClr val="9AA0A8"/>
                </a:solidFill>
                <a:latin typeface="Calibri" pitchFamily="34" charset="0"/>
                <a:ea typeface="Calibri" pitchFamily="34" charset="-122"/>
                <a:cs typeface="Calibri" pitchFamily="34" charset="-120"/>
              </a:rPr>
              <a:t>Insert fig6_accuracy_console.png here</a:t>
            </a:r>
            <a:endParaRPr lang="en-US" sz="1100" dirty="0"/>
          </a:p>
          <a:p>
            <a:pPr marL="0" indent="0" algn="ctr">
              <a:buNone/>
            </a:pPr>
            <a:r>
              <a:rPr lang="en-US" sz="1100" i="1" dirty="0">
                <a:solidFill>
                  <a:srgbClr val="9AA0A8"/>
                </a:solidFill>
                <a:latin typeface="Calibri" pitchFamily="34" charset="0"/>
                <a:ea typeface="Calibri" pitchFamily="34" charset="-122"/>
                <a:cs typeface="Calibri" pitchFamily="34" charset="-120"/>
              </a:rPr>
              <a:t>(full automated test output — optional)</a:t>
            </a:r>
            <a:endParaRPr lang="en-US" sz="1100" dirty="0"/>
          </a:p>
        </p:txBody>
      </p:sp>
      <p:sp>
        <p:nvSpPr>
          <p:cNvPr id="16" name="Text 14"/>
          <p:cNvSpPr/>
          <p:nvPr/>
        </p:nvSpPr>
        <p:spPr>
          <a:xfrm>
            <a:off x="502920" y="6510528"/>
            <a:ext cx="5486400" cy="274320"/>
          </a:xfrm>
          <a:prstGeom prst="rect">
            <a:avLst/>
          </a:prstGeom>
          <a:noFill/>
          <a:ln/>
        </p:spPr>
        <p:txBody>
          <a:bodyPr wrap="square" rtlCol="0" anchor="ctr"/>
          <a:lstStyle/>
          <a:p>
            <a:pPr marL="0" indent="0">
              <a:buNone/>
            </a:pPr>
            <a:r>
              <a:rPr lang="en-US" sz="900" dirty="0">
                <a:solidFill>
                  <a:srgbClr val="5C6169"/>
                </a:solidFill>
                <a:latin typeface="Calibri" pitchFamily="34" charset="0"/>
                <a:ea typeface="Calibri" pitchFamily="34" charset="-122"/>
                <a:cs typeface="Calibri" pitchFamily="34" charset="-120"/>
              </a:rPr>
              <a:t>Audio Pattern Recognition System</a:t>
            </a:r>
            <a:endParaRPr lang="en-US" sz="900" dirty="0"/>
          </a:p>
        </p:txBody>
      </p:sp>
      <p:sp>
        <p:nvSpPr>
          <p:cNvPr id="17" name="Text 15"/>
          <p:cNvSpPr/>
          <p:nvPr/>
        </p:nvSpPr>
        <p:spPr>
          <a:xfrm>
            <a:off x="11338560" y="6510528"/>
            <a:ext cx="365760" cy="274320"/>
          </a:xfrm>
          <a:prstGeom prst="rect">
            <a:avLst/>
          </a:prstGeom>
          <a:noFill/>
          <a:ln/>
        </p:spPr>
        <p:txBody>
          <a:bodyPr wrap="square" rtlCol="0" anchor="ctr"/>
          <a:lstStyle/>
          <a:p>
            <a:pPr marL="0" indent="0" algn="r">
              <a:buNone/>
            </a:pPr>
            <a:r>
              <a:rPr lang="en-US" sz="900" dirty="0">
                <a:solidFill>
                  <a:srgbClr val="5C6169"/>
                </a:solidFill>
                <a:latin typeface="Calibri" pitchFamily="34" charset="0"/>
                <a:ea typeface="Calibri" pitchFamily="34" charset="-122"/>
                <a:cs typeface="Calibri" pitchFamily="34" charset="-120"/>
              </a:rPr>
              <a:t>9</a:t>
            </a:r>
            <a:endParaRPr lang="en-US" sz="900" dirty="0"/>
          </a:p>
        </p:txBody>
      </p:sp>
      <p:pic>
        <p:nvPicPr>
          <p:cNvPr id="19" name="Picture 18" descr="A screenshot of a computer&#10;&#10;Description automatically generated">
            <a:extLst>
              <a:ext uri="{FF2B5EF4-FFF2-40B4-BE49-F238E27FC236}">
                <a16:creationId xmlns:a16="http://schemas.microsoft.com/office/drawing/2014/main" id="{EB8A9F1F-ACCF-4B3D-8153-3E7C330E5575}"/>
              </a:ext>
            </a:extLst>
          </p:cNvPr>
          <p:cNvPicPr>
            <a:picLocks noChangeAspect="1"/>
          </p:cNvPicPr>
          <p:nvPr/>
        </p:nvPicPr>
        <p:blipFill>
          <a:blip r:embed="rId3"/>
          <a:stretch>
            <a:fillRect/>
          </a:stretch>
        </p:blipFill>
        <p:spPr>
          <a:xfrm>
            <a:off x="585216" y="4260623"/>
            <a:ext cx="10850880" cy="1984248"/>
          </a:xfrm>
          <a:prstGeom prst="rect">
            <a:avLst/>
          </a:prstGeom>
        </p:spPr>
      </p:pic>
      <p:sp>
        <p:nvSpPr>
          <p:cNvPr id="20" name="Text 2">
            <a:extLst>
              <a:ext uri="{FF2B5EF4-FFF2-40B4-BE49-F238E27FC236}">
                <a16:creationId xmlns:a16="http://schemas.microsoft.com/office/drawing/2014/main" id="{56EC4DE5-367A-440C-B755-CA72E1A5DB0A}"/>
              </a:ext>
            </a:extLst>
          </p:cNvPr>
          <p:cNvSpPr/>
          <p:nvPr/>
        </p:nvSpPr>
        <p:spPr>
          <a:xfrm>
            <a:off x="502920" y="3775269"/>
            <a:ext cx="10881360" cy="45720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Full output of the automated accuracy </a:t>
            </a:r>
            <a:r>
              <a:rPr lang="en-US" sz="1450" dirty="0" err="1">
                <a:solidFill>
                  <a:srgbClr val="FFFFFF"/>
                </a:solidFill>
                <a:latin typeface="Calibri" pitchFamily="34" charset="0"/>
                <a:ea typeface="Calibri" pitchFamily="34" charset="-122"/>
                <a:cs typeface="Calibri" pitchFamily="34" charset="-120"/>
              </a:rPr>
              <a:t>test:</a:t>
            </a:r>
            <a:r>
              <a:rPr lang="en-US" sz="1600" dirty="0" err="1"/>
              <a:t>a</a:t>
            </a:r>
            <a:r>
              <a:rPr lang="en-US" sz="1600" dirty="0"/>
              <a:t> successful match, confidence score, and recommended tracks</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A0A0C"/>
        </a:solidFill>
        <a:effectLst/>
      </p:bgPr>
    </p:bg>
    <p:spTree>
      <p:nvGrpSpPr>
        <p:cNvPr id="1" name=""/>
        <p:cNvGrpSpPr/>
        <p:nvPr/>
      </p:nvGrpSpPr>
      <p:grpSpPr>
        <a:xfrm>
          <a:off x="0" y="0"/>
          <a:ext cx="0" cy="0"/>
          <a:chOff x="0" y="0"/>
          <a:chExt cx="0" cy="0"/>
        </a:xfrm>
      </p:grpSpPr>
      <p:sp>
        <p:nvSpPr>
          <p:cNvPr id="2" name="Shape 0"/>
          <p:cNvSpPr/>
          <p:nvPr/>
        </p:nvSpPr>
        <p:spPr>
          <a:xfrm>
            <a:off x="8595360" y="5852160"/>
            <a:ext cx="219456" cy="548640"/>
          </a:xfrm>
          <a:prstGeom prst="rect">
            <a:avLst/>
          </a:prstGeom>
          <a:solidFill>
            <a:srgbClr val="E8112D">
              <a:alpha val="45000"/>
            </a:srgbClr>
          </a:solidFill>
          <a:ln/>
        </p:spPr>
      </p:sp>
      <p:sp>
        <p:nvSpPr>
          <p:cNvPr id="3" name="Shape 1"/>
          <p:cNvSpPr/>
          <p:nvPr/>
        </p:nvSpPr>
        <p:spPr>
          <a:xfrm>
            <a:off x="8933688" y="5029200"/>
            <a:ext cx="219456" cy="1371600"/>
          </a:xfrm>
          <a:prstGeom prst="rect">
            <a:avLst/>
          </a:prstGeom>
          <a:solidFill>
            <a:srgbClr val="E8112D">
              <a:alpha val="45000"/>
            </a:srgbClr>
          </a:solidFill>
          <a:ln/>
        </p:spPr>
      </p:sp>
      <p:sp>
        <p:nvSpPr>
          <p:cNvPr id="4" name="Shape 2"/>
          <p:cNvSpPr/>
          <p:nvPr/>
        </p:nvSpPr>
        <p:spPr>
          <a:xfrm>
            <a:off x="9272016" y="4206240"/>
            <a:ext cx="219456" cy="2194560"/>
          </a:xfrm>
          <a:prstGeom prst="rect">
            <a:avLst/>
          </a:prstGeom>
          <a:solidFill>
            <a:srgbClr val="E8112D">
              <a:alpha val="45000"/>
            </a:srgbClr>
          </a:solidFill>
          <a:ln/>
        </p:spPr>
      </p:sp>
      <p:sp>
        <p:nvSpPr>
          <p:cNvPr id="5" name="Shape 3"/>
          <p:cNvSpPr/>
          <p:nvPr/>
        </p:nvSpPr>
        <p:spPr>
          <a:xfrm>
            <a:off x="9610344" y="5394960"/>
            <a:ext cx="219456" cy="1005840"/>
          </a:xfrm>
          <a:prstGeom prst="rect">
            <a:avLst/>
          </a:prstGeom>
          <a:solidFill>
            <a:srgbClr val="E8112D">
              <a:alpha val="45000"/>
            </a:srgbClr>
          </a:solidFill>
          <a:ln/>
        </p:spPr>
      </p:sp>
      <p:sp>
        <p:nvSpPr>
          <p:cNvPr id="6" name="Shape 4"/>
          <p:cNvSpPr/>
          <p:nvPr/>
        </p:nvSpPr>
        <p:spPr>
          <a:xfrm>
            <a:off x="9948672" y="4572000"/>
            <a:ext cx="219456" cy="1828800"/>
          </a:xfrm>
          <a:prstGeom prst="rect">
            <a:avLst/>
          </a:prstGeom>
          <a:solidFill>
            <a:srgbClr val="E8112D">
              <a:alpha val="45000"/>
            </a:srgbClr>
          </a:solidFill>
          <a:ln/>
        </p:spPr>
      </p:sp>
      <p:sp>
        <p:nvSpPr>
          <p:cNvPr id="7" name="Shape 5"/>
          <p:cNvSpPr/>
          <p:nvPr/>
        </p:nvSpPr>
        <p:spPr>
          <a:xfrm>
            <a:off x="10287000" y="5669280"/>
            <a:ext cx="219456" cy="731520"/>
          </a:xfrm>
          <a:prstGeom prst="rect">
            <a:avLst/>
          </a:prstGeom>
          <a:solidFill>
            <a:srgbClr val="E8112D">
              <a:alpha val="45000"/>
            </a:srgbClr>
          </a:solidFill>
          <a:ln/>
        </p:spPr>
      </p:sp>
      <p:sp>
        <p:nvSpPr>
          <p:cNvPr id="8" name="Shape 6"/>
          <p:cNvSpPr/>
          <p:nvPr/>
        </p:nvSpPr>
        <p:spPr>
          <a:xfrm>
            <a:off x="10625328" y="4846320"/>
            <a:ext cx="219456" cy="1554480"/>
          </a:xfrm>
          <a:prstGeom prst="rect">
            <a:avLst/>
          </a:prstGeom>
          <a:solidFill>
            <a:srgbClr val="E8112D">
              <a:alpha val="45000"/>
            </a:srgbClr>
          </a:solidFill>
          <a:ln/>
        </p:spPr>
      </p:sp>
      <p:sp>
        <p:nvSpPr>
          <p:cNvPr id="9" name="Shape 7"/>
          <p:cNvSpPr/>
          <p:nvPr/>
        </p:nvSpPr>
        <p:spPr>
          <a:xfrm>
            <a:off x="10963656" y="5303520"/>
            <a:ext cx="219456" cy="1097280"/>
          </a:xfrm>
          <a:prstGeom prst="rect">
            <a:avLst/>
          </a:prstGeom>
          <a:solidFill>
            <a:srgbClr val="E8112D">
              <a:alpha val="45000"/>
            </a:srgbClr>
          </a:solidFill>
          <a:ln/>
        </p:spPr>
      </p:sp>
      <p:sp>
        <p:nvSpPr>
          <p:cNvPr id="10" name="Shape 8"/>
          <p:cNvSpPr/>
          <p:nvPr/>
        </p:nvSpPr>
        <p:spPr>
          <a:xfrm>
            <a:off x="11301984" y="4480560"/>
            <a:ext cx="219456" cy="1920240"/>
          </a:xfrm>
          <a:prstGeom prst="rect">
            <a:avLst/>
          </a:prstGeom>
          <a:solidFill>
            <a:srgbClr val="E8112D">
              <a:alpha val="45000"/>
            </a:srgbClr>
          </a:solidFill>
          <a:ln/>
        </p:spPr>
      </p:sp>
      <p:sp>
        <p:nvSpPr>
          <p:cNvPr id="11" name="Shape 9"/>
          <p:cNvSpPr/>
          <p:nvPr/>
        </p:nvSpPr>
        <p:spPr>
          <a:xfrm>
            <a:off x="731520" y="3017520"/>
            <a:ext cx="128016" cy="1005840"/>
          </a:xfrm>
          <a:prstGeom prst="rect">
            <a:avLst/>
          </a:prstGeom>
          <a:solidFill>
            <a:srgbClr val="E8112D"/>
          </a:solidFill>
          <a:ln/>
        </p:spPr>
      </p:sp>
      <p:sp>
        <p:nvSpPr>
          <p:cNvPr id="12" name="Text 10"/>
          <p:cNvSpPr/>
          <p:nvPr/>
        </p:nvSpPr>
        <p:spPr>
          <a:xfrm>
            <a:off x="1005840" y="2880360"/>
            <a:ext cx="9144000" cy="914400"/>
          </a:xfrm>
          <a:prstGeom prst="rect">
            <a:avLst/>
          </a:prstGeom>
          <a:noFill/>
          <a:ln/>
        </p:spPr>
        <p:txBody>
          <a:bodyPr wrap="square" rtlCol="0" anchor="ctr"/>
          <a:lstStyle/>
          <a:p>
            <a:pPr marL="0" indent="0">
              <a:buNone/>
            </a:pPr>
            <a:r>
              <a:rPr lang="en-US" sz="4600" b="1" dirty="0">
                <a:solidFill>
                  <a:srgbClr val="FFFFFF"/>
                </a:solidFill>
                <a:latin typeface="Arial" pitchFamily="34" charset="0"/>
                <a:ea typeface="Arial" pitchFamily="34" charset="-122"/>
                <a:cs typeface="Arial" pitchFamily="34" charset="-120"/>
              </a:rPr>
              <a:t>THANK YOU</a:t>
            </a:r>
            <a:endParaRPr lang="en-US" sz="4600" dirty="0"/>
          </a:p>
        </p:txBody>
      </p:sp>
      <p:sp>
        <p:nvSpPr>
          <p:cNvPr id="13" name="Text 11"/>
          <p:cNvSpPr/>
          <p:nvPr/>
        </p:nvSpPr>
        <p:spPr>
          <a:xfrm>
            <a:off x="1005840" y="3794760"/>
            <a:ext cx="9144000" cy="457200"/>
          </a:xfrm>
          <a:prstGeom prst="rect">
            <a:avLst/>
          </a:prstGeom>
          <a:noFill/>
          <a:ln/>
        </p:spPr>
        <p:txBody>
          <a:bodyPr wrap="square" rtlCol="0" anchor="ctr"/>
          <a:lstStyle/>
          <a:p>
            <a:pPr marL="0" indent="0">
              <a:buNone/>
            </a:pPr>
            <a:r>
              <a:rPr lang="en-US" sz="1800" i="1" dirty="0">
                <a:solidFill>
                  <a:srgbClr val="E8112D"/>
                </a:solidFill>
                <a:latin typeface="Calibri" pitchFamily="34" charset="0"/>
                <a:ea typeface="Calibri" pitchFamily="34" charset="-122"/>
                <a:cs typeface="Calibri" pitchFamily="34" charset="-120"/>
              </a:rPr>
              <a:t>Questions?</a:t>
            </a:r>
            <a:endParaRPr lang="en-US" sz="1800" dirty="0"/>
          </a:p>
        </p:txBody>
      </p:sp>
      <p:sp>
        <p:nvSpPr>
          <p:cNvPr id="14" name="Text 12"/>
          <p:cNvSpPr/>
          <p:nvPr/>
        </p:nvSpPr>
        <p:spPr>
          <a:xfrm>
            <a:off x="1005840" y="4663440"/>
            <a:ext cx="9601200" cy="365760"/>
          </a:xfrm>
          <a:prstGeom prst="rect">
            <a:avLst/>
          </a:prstGeom>
          <a:noFill/>
          <a:ln/>
        </p:spPr>
        <p:txBody>
          <a:bodyPr wrap="square" rtlCol="0" anchor="ctr"/>
          <a:lstStyle/>
          <a:p>
            <a:pPr marL="0" indent="0">
              <a:buNone/>
            </a:pPr>
            <a:r>
              <a:rPr lang="en-US" sz="1250" dirty="0">
                <a:solidFill>
                  <a:srgbClr val="9AA0A8"/>
                </a:solidFill>
                <a:latin typeface="Calibri" pitchFamily="34" charset="0"/>
                <a:ea typeface="Calibri" pitchFamily="34" charset="-122"/>
                <a:cs typeface="Calibri" pitchFamily="34" charset="-120"/>
              </a:rPr>
              <a:t>51 songs · 100% controlled accuracy · real-time matching · built end-to-end in MATLAB</a:t>
            </a:r>
            <a:endParaRPr lang="en-US" sz="1250" dirty="0"/>
          </a:p>
        </p:txBody>
      </p:sp>
      <p:sp>
        <p:nvSpPr>
          <p:cNvPr id="15" name="Text 13"/>
          <p:cNvSpPr/>
          <p:nvPr/>
        </p:nvSpPr>
        <p:spPr>
          <a:xfrm>
            <a:off x="1005840" y="6035040"/>
            <a:ext cx="9144000" cy="320040"/>
          </a:xfrm>
          <a:prstGeom prst="rect">
            <a:avLst/>
          </a:prstGeom>
          <a:noFill/>
          <a:ln/>
        </p:spPr>
        <p:txBody>
          <a:bodyPr wrap="square" rtlCol="0" anchor="ctr"/>
          <a:lstStyle/>
          <a:p>
            <a:pPr marL="0" indent="0">
              <a:buNone/>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TotalTime>
  <Words>2304</Words>
  <Application>Microsoft Office PowerPoint</Application>
  <PresentationFormat>Widescreen</PresentationFormat>
  <Paragraphs>158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ASUS</cp:lastModifiedBy>
  <cp:revision>3</cp:revision>
  <dcterms:created xsi:type="dcterms:W3CDTF">2026-08-17T18:33:00Z</dcterms:created>
  <dcterms:modified xsi:type="dcterms:W3CDTF">2026-08-17T21:15:32Z</dcterms:modified>
</cp:coreProperties>
</file>